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7" r:id="rId11"/>
    <p:sldId id="266" r:id="rId12"/>
    <p:sldId id="260" r:id="rId13"/>
  </p:sldIdLst>
  <p:sldSz cx="14630400" cy="8229600"/>
  <p:notesSz cx="8229600" cy="14630400"/>
  <p:embeddedFontLst>
    <p:embeddedFont>
      <p:font typeface="Instrument Sans Medium" panose="020B0604020202020204" charset="0"/>
      <p:regular r:id="rId15"/>
    </p:embeddedFont>
    <p:embeddedFont>
      <p:font typeface="Instrument Sans Semi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A7612-6602-439E-8C1C-47CE35AAF898}" v="5" dt="2026-02-17T02:40:45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680" y="-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ranmal Agrawal" userId="40b1e8c6-db4f-48a2-86dc-a3e265427d64" providerId="ADAL" clId="{F348C465-734F-435E-A615-EFD8A7B2865B}"/>
    <pc:docChg chg="undo custSel addSld delSld modSld sldOrd">
      <pc:chgData name="Puranmal Agrawal" userId="40b1e8c6-db4f-48a2-86dc-a3e265427d64" providerId="ADAL" clId="{F348C465-734F-435E-A615-EFD8A7B2865B}" dt="2026-02-17T06:33:42.665" v="489" actId="20577"/>
      <pc:docMkLst>
        <pc:docMk/>
      </pc:docMkLst>
      <pc:sldChg chg="ord">
        <pc:chgData name="Puranmal Agrawal" userId="40b1e8c6-db4f-48a2-86dc-a3e265427d64" providerId="ADAL" clId="{F348C465-734F-435E-A615-EFD8A7B2865B}" dt="2026-02-13T06:39:05.733" v="265"/>
        <pc:sldMkLst>
          <pc:docMk/>
          <pc:sldMk cId="0" sldId="260"/>
        </pc:sldMkLst>
      </pc:sldChg>
      <pc:sldChg chg="addSp delSp modSp mod">
        <pc:chgData name="Puranmal Agrawal" userId="40b1e8c6-db4f-48a2-86dc-a3e265427d64" providerId="ADAL" clId="{F348C465-734F-435E-A615-EFD8A7B2865B}" dt="2026-02-17T06:24:56.467" v="472" actId="403"/>
        <pc:sldMkLst>
          <pc:docMk/>
          <pc:sldMk cId="0" sldId="262"/>
        </pc:sldMkLst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2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23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36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3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41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1-29T05:07:06.872" v="1" actId="14100"/>
          <ac:spMkLst>
            <pc:docMk/>
            <pc:sldMk cId="0" sldId="262"/>
            <ac:spMk id="42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44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4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51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52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7T06:24:56.467" v="472" actId="403"/>
          <ac:spMkLst>
            <pc:docMk/>
            <pc:sldMk cId="0" sldId="262"/>
            <ac:spMk id="55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56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57" creationId="{00000000-0000-0000-0000-000000000000}"/>
          </ac:spMkLst>
        </pc:spChg>
        <pc:spChg chg="mod">
          <ac:chgData name="Puranmal Agrawal" userId="40b1e8c6-db4f-48a2-86dc-a3e265427d64" providerId="ADAL" clId="{F348C465-734F-435E-A615-EFD8A7B2865B}" dt="2026-02-13T06:51:07.602" v="322" actId="1036"/>
          <ac:spMkLst>
            <pc:docMk/>
            <pc:sldMk cId="0" sldId="262"/>
            <ac:spMk id="59" creationId="{00000000-0000-0000-0000-000000000000}"/>
          </ac:spMkLst>
        </pc:spChg>
        <pc:picChg chg="mod">
          <ac:chgData name="Puranmal Agrawal" userId="40b1e8c6-db4f-48a2-86dc-a3e265427d64" providerId="ADAL" clId="{F348C465-734F-435E-A615-EFD8A7B2865B}" dt="2026-02-13T06:51:15.902" v="323" actId="14100"/>
          <ac:picMkLst>
            <pc:docMk/>
            <pc:sldMk cId="0" sldId="262"/>
            <ac:picMk id="43" creationId="{00000000-0000-0000-0000-000000000000}"/>
          </ac:picMkLst>
        </pc:picChg>
        <pc:picChg chg="mod">
          <ac:chgData name="Puranmal Agrawal" userId="40b1e8c6-db4f-48a2-86dc-a3e265427d64" providerId="ADAL" clId="{F348C465-734F-435E-A615-EFD8A7B2865B}" dt="2026-02-13T06:51:35.091" v="342" actId="1076"/>
          <ac:picMkLst>
            <pc:docMk/>
            <pc:sldMk cId="0" sldId="262"/>
            <ac:picMk id="46" creationId="{00000000-0000-0000-0000-000000000000}"/>
          </ac:picMkLst>
        </pc:picChg>
        <pc:picChg chg="mod">
          <ac:chgData name="Puranmal Agrawal" userId="40b1e8c6-db4f-48a2-86dc-a3e265427d64" providerId="ADAL" clId="{F348C465-734F-435E-A615-EFD8A7B2865B}" dt="2026-02-13T06:51:42.772" v="344" actId="1076"/>
          <ac:picMkLst>
            <pc:docMk/>
            <pc:sldMk cId="0" sldId="262"/>
            <ac:picMk id="50" creationId="{00000000-0000-0000-0000-000000000000}"/>
          </ac:picMkLst>
        </pc:picChg>
        <pc:picChg chg="mod">
          <ac:chgData name="Puranmal Agrawal" userId="40b1e8c6-db4f-48a2-86dc-a3e265427d64" providerId="ADAL" clId="{F348C465-734F-435E-A615-EFD8A7B2865B}" dt="2026-02-13T06:51:22.524" v="341" actId="1036"/>
          <ac:picMkLst>
            <pc:docMk/>
            <pc:sldMk cId="0" sldId="262"/>
            <ac:picMk id="58" creationId="{00000000-0000-0000-0000-000000000000}"/>
          </ac:picMkLst>
        </pc:picChg>
      </pc:sldChg>
      <pc:sldChg chg="addSp modSp new mod">
        <pc:chgData name="Puranmal Agrawal" userId="40b1e8c6-db4f-48a2-86dc-a3e265427d64" providerId="ADAL" clId="{F348C465-734F-435E-A615-EFD8A7B2865B}" dt="2026-02-13T06:28:12.083" v="19" actId="403"/>
        <pc:sldMkLst>
          <pc:docMk/>
          <pc:sldMk cId="1436074561" sldId="264"/>
        </pc:sldMkLst>
        <pc:spChg chg="add mod">
          <ac:chgData name="Puranmal Agrawal" userId="40b1e8c6-db4f-48a2-86dc-a3e265427d64" providerId="ADAL" clId="{F348C465-734F-435E-A615-EFD8A7B2865B}" dt="2026-02-13T06:28:12.083" v="19" actId="403"/>
          <ac:spMkLst>
            <pc:docMk/>
            <pc:sldMk cId="1436074561" sldId="264"/>
            <ac:spMk id="2" creationId="{F608ECB4-41CC-3067-8580-31F867018B23}"/>
          </ac:spMkLst>
        </pc:spChg>
      </pc:sldChg>
      <pc:sldChg chg="modSp add mod ord">
        <pc:chgData name="Puranmal Agrawal" userId="40b1e8c6-db4f-48a2-86dc-a3e265427d64" providerId="ADAL" clId="{F348C465-734F-435E-A615-EFD8A7B2865B}" dt="2026-02-17T06:25:33.034" v="474"/>
        <pc:sldMkLst>
          <pc:docMk/>
          <pc:sldMk cId="4050934423" sldId="265"/>
        </pc:sldMkLst>
        <pc:spChg chg="mod">
          <ac:chgData name="Puranmal Agrawal" userId="40b1e8c6-db4f-48a2-86dc-a3e265427d64" providerId="ADAL" clId="{F348C465-734F-435E-A615-EFD8A7B2865B}" dt="2026-02-17T02:40:24.266" v="468" actId="404"/>
          <ac:spMkLst>
            <pc:docMk/>
            <pc:sldMk cId="4050934423" sldId="265"/>
            <ac:spMk id="2" creationId="{C833E8FD-D815-ABD4-8DF7-F8A73A54AE8E}"/>
          </ac:spMkLst>
        </pc:spChg>
      </pc:sldChg>
      <pc:sldChg chg="modSp add mod ord">
        <pc:chgData name="Puranmal Agrawal" userId="40b1e8c6-db4f-48a2-86dc-a3e265427d64" providerId="ADAL" clId="{F348C465-734F-435E-A615-EFD8A7B2865B}" dt="2026-02-13T06:39:19.711" v="274" actId="20577"/>
        <pc:sldMkLst>
          <pc:docMk/>
          <pc:sldMk cId="1695183591" sldId="266"/>
        </pc:sldMkLst>
        <pc:spChg chg="mod">
          <ac:chgData name="Puranmal Agrawal" userId="40b1e8c6-db4f-48a2-86dc-a3e265427d64" providerId="ADAL" clId="{F348C465-734F-435E-A615-EFD8A7B2865B}" dt="2026-02-13T06:39:19.711" v="274" actId="20577"/>
          <ac:spMkLst>
            <pc:docMk/>
            <pc:sldMk cId="1695183591" sldId="266"/>
            <ac:spMk id="2" creationId="{6B92A63A-B3A5-3369-3B1F-55B5B00D0ED0}"/>
          </ac:spMkLst>
        </pc:spChg>
      </pc:sldChg>
      <pc:sldChg chg="modSp add mod">
        <pc:chgData name="Puranmal Agrawal" userId="40b1e8c6-db4f-48a2-86dc-a3e265427d64" providerId="ADAL" clId="{F348C465-734F-435E-A615-EFD8A7B2865B}" dt="2026-02-17T06:33:42.665" v="489" actId="20577"/>
        <pc:sldMkLst>
          <pc:docMk/>
          <pc:sldMk cId="3856566936" sldId="267"/>
        </pc:sldMkLst>
        <pc:spChg chg="mod">
          <ac:chgData name="Puranmal Agrawal" userId="40b1e8c6-db4f-48a2-86dc-a3e265427d64" providerId="ADAL" clId="{F348C465-734F-435E-A615-EFD8A7B2865B}" dt="2026-02-17T06:33:42.665" v="489" actId="20577"/>
          <ac:spMkLst>
            <pc:docMk/>
            <pc:sldMk cId="3856566936" sldId="267"/>
            <ac:spMk id="2" creationId="{2AD4ADD9-0149-0978-970B-C181A42898CB}"/>
          </ac:spMkLst>
        </pc:spChg>
      </pc:sldChg>
      <pc:sldChg chg="add del">
        <pc:chgData name="Puranmal Agrawal" userId="40b1e8c6-db4f-48a2-86dc-a3e265427d64" providerId="ADAL" clId="{F348C465-734F-435E-A615-EFD8A7B2865B}" dt="2026-02-17T02:40:45.387" v="470"/>
        <pc:sldMkLst>
          <pc:docMk/>
          <pc:sldMk cId="3532662146" sldId="2147472056"/>
        </pc:sldMkLst>
      </pc:sldChg>
      <pc:sldChg chg="add del">
        <pc:chgData name="Puranmal Agrawal" userId="40b1e8c6-db4f-48a2-86dc-a3e265427d64" providerId="ADAL" clId="{F348C465-734F-435E-A615-EFD8A7B2865B}" dt="2026-02-17T02:40:45.387" v="470"/>
        <pc:sldMkLst>
          <pc:docMk/>
          <pc:sldMk cId="988677774" sldId="2147472182"/>
        </pc:sldMkLst>
      </pc:sldChg>
      <pc:sldChg chg="add del">
        <pc:chgData name="Puranmal Agrawal" userId="40b1e8c6-db4f-48a2-86dc-a3e265427d64" providerId="ADAL" clId="{F348C465-734F-435E-A615-EFD8A7B2865B}" dt="2026-02-17T02:40:45.387" v="470"/>
        <pc:sldMkLst>
          <pc:docMk/>
          <pc:sldMk cId="2126441461" sldId="2147472183"/>
        </pc:sldMkLst>
      </pc:sldChg>
      <pc:sldChg chg="add del">
        <pc:chgData name="Puranmal Agrawal" userId="40b1e8c6-db4f-48a2-86dc-a3e265427d64" providerId="ADAL" clId="{F348C465-734F-435E-A615-EFD8A7B2865B}" dt="2026-02-17T02:40:45.387" v="470"/>
        <pc:sldMkLst>
          <pc:docMk/>
          <pc:sldMk cId="3571354389" sldId="2147472184"/>
        </pc:sldMkLst>
      </pc:sldChg>
      <pc:sldChg chg="add del">
        <pc:chgData name="Puranmal Agrawal" userId="40b1e8c6-db4f-48a2-86dc-a3e265427d64" providerId="ADAL" clId="{F348C465-734F-435E-A615-EFD8A7B2865B}" dt="2026-02-17T02:40:45.387" v="470"/>
        <pc:sldMkLst>
          <pc:docMk/>
          <pc:sldMk cId="2331488895" sldId="21474721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263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sv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1.svg"/><Relationship Id="rId20" Type="http://schemas.openxmlformats.org/officeDocument/2006/relationships/image" Target="../media/image35.svg"/><Relationship Id="rId29" Type="http://schemas.openxmlformats.org/officeDocument/2006/relationships/image" Target="../media/image44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24" Type="http://schemas.openxmlformats.org/officeDocument/2006/relationships/image" Target="../media/image39.png"/><Relationship Id="rId5" Type="http://schemas.openxmlformats.org/officeDocument/2006/relationships/image" Target="../media/image20.svg"/><Relationship Id="rId15" Type="http://schemas.openxmlformats.org/officeDocument/2006/relationships/image" Target="../media/image30.png"/><Relationship Id="rId23" Type="http://schemas.openxmlformats.org/officeDocument/2006/relationships/image" Target="../media/image38.sv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9.svg"/><Relationship Id="rId22" Type="http://schemas.openxmlformats.org/officeDocument/2006/relationships/image" Target="../media/image37.png"/><Relationship Id="rId27" Type="http://schemas.openxmlformats.org/officeDocument/2006/relationships/image" Target="../media/image4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Uniform Distribution System (UDS)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Transforming corporate uniform management through intelligent automation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55508" y="1341596"/>
            <a:ext cx="4064794" cy="467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Uniform Challenge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794" y="2067639"/>
            <a:ext cx="3672364" cy="36723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70990" y="2055376"/>
            <a:ext cx="439102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do uniforms reach employees today?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970990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120533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3882" y="2719507"/>
            <a:ext cx="201811" cy="2018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20533" y="3143369"/>
            <a:ext cx="1978938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Fragmented Channels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120533" y="3475553"/>
            <a:ext cx="2407325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across various platforms like email, phone and WhatsApp leads to disorganization.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775984" y="2446615"/>
            <a:ext cx="2706410" cy="1972389"/>
          </a:xfrm>
          <a:prstGeom prst="roundRect">
            <a:avLst>
              <a:gd name="adj" fmla="val 68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9925526" y="2596158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8875" y="2719507"/>
            <a:ext cx="201811" cy="2018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25526" y="3143369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Manual Tracking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925526" y="3475553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Relying on spreadsheets for tracking is prone to errors and inefficiencies.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970990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7120533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43882" y="4790480"/>
            <a:ext cx="201811" cy="2018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20533" y="5214342"/>
            <a:ext cx="1895951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Excessive Follow-ups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120533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Constant manual coordination consumes valuable time and resources.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775984" y="4517588"/>
            <a:ext cx="2706410" cy="1773912"/>
          </a:xfrm>
          <a:prstGeom prst="roundRect">
            <a:avLst>
              <a:gd name="adj" fmla="val 758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9925526" y="4667131"/>
            <a:ext cx="448628" cy="448628"/>
          </a:xfrm>
          <a:prstGeom prst="roundRect">
            <a:avLst>
              <a:gd name="adj" fmla="val 2038010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8875" y="4790480"/>
            <a:ext cx="201811" cy="201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925526" y="5214342"/>
            <a:ext cx="1869400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Scalability Issues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9925526" y="5546527"/>
            <a:ext cx="2407325" cy="595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Managing uniforms across multiple locations and vendors is increasingly difficult.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970990" y="6402348"/>
            <a:ext cx="5511403" cy="396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is precisely where UDS transforms the game. UDS is designed so every feature creates value for at least one stakeholder — and friction for none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UDS?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20604" y="3342203"/>
            <a:ext cx="28428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B2B2C SaaS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Unified workflow connecting all stakeholders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43776" y="3342203"/>
            <a:ext cx="2942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Single Source of Truth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request to delivery to payment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5389"/>
            <a:ext cx="4196358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Zero Fragmentation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3262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 platform replacing multiple tools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295543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"Think of UDS as the operating system for corporate uniforms—streamlining what was once chaotic into something beautifully simple."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40392"/>
            <a:ext cx="30480" cy="1236107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616625"/>
            <a:ext cx="6465213" cy="700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Three-Way Problem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4384" y="1759863"/>
            <a:ext cx="13061633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Before introducing solutions, let's understand the pain points experienced by each stakeholder in the current system.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384" y="2365296"/>
            <a:ext cx="2418159" cy="24181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4384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Employees Ask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4384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"I just need my uniform—why is it so complicated?"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4384" y="6388894"/>
            <a:ext cx="4169331" cy="106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request processes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delivery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Endless  follow-ups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535" y="2365296"/>
            <a:ext cx="2418159" cy="24181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0535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Employers Wonder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0535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"Why does something operational consume so much management time?"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230535" y="6388894"/>
            <a:ext cx="4169331" cy="106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Approval bottlenecks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spend visibility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Policy leakage risks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686" y="2365296"/>
            <a:ext cx="2418159" cy="24181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6686" y="506027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Vendors Face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6686" y="5543312"/>
            <a:ext cx="4169331" cy="71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"Orders arrive constantly, but nothing is standardised."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76686" y="6388894"/>
            <a:ext cx="4169331" cy="1069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Scattered demand patterns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fulfillment chaos</a:t>
            </a:r>
            <a:endParaRPr lang="en-US" sz="1750" dirty="0"/>
          </a:p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Delayed payments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857" y="960596"/>
            <a:ext cx="7317819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Unified Stakeholder Experience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57" y="1767245"/>
            <a:ext cx="2248614" cy="2248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857" y="4181475"/>
            <a:ext cx="3676055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Employee: Effortless Ordering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33857" y="4585930"/>
            <a:ext cx="387703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Employees simply request uniforms via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WhatsApp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or the </a:t>
            </a:r>
            <a:r>
              <a:rPr lang="en-US" sz="13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 portal</a:t>
            </a: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selecting size, role, and location. UDS handles eligibility, approvals, and delivery, providing: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33857" y="5644039"/>
            <a:ext cx="3877032" cy="73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Acknowledgement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Follow-Ups</a:t>
            </a:r>
            <a:endParaRPr lang="en-US" sz="13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505" y="1767245"/>
            <a:ext cx="2248733" cy="22487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76505" y="4181594"/>
            <a:ext cx="3688794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Employer: Centralized Control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376505" y="4586049"/>
            <a:ext cx="3877151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Employer Dashboard provides comprehensive oversight without manual effort, enabling: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376505" y="5399484"/>
            <a:ext cx="3877151" cy="73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Configurable Workflows &amp; Eligibility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Monitoring &amp; Management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Branch-Wide Visibility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76505" y="6120496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Eliminates inter-departmental coordination and chasing approvals.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9273" y="1767245"/>
            <a:ext cx="2248733" cy="22487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9273" y="4181594"/>
            <a:ext cx="3877151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Vendor: Streamlined Fulfillment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9419273" y="4911090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Vendors benefit from an organized system that transforms order management: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419273" y="5479852"/>
            <a:ext cx="3877151" cy="73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Consolidated Demand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Clear SKU Details &amp; Quantities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 Segregation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419273" y="6108336"/>
            <a:ext cx="3877151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logistics ensure timely, accurate fulfillment, reducing errors and complexity.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333857" y="6746749"/>
            <a:ext cx="11962567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platform seamlessly connects all stakeholders, turning individual needs into a synchronized, efficient ecosystem where everyone wins.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21888" y="1005840"/>
            <a:ext cx="3328392" cy="41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21888" y="1578173"/>
            <a:ext cx="9186505" cy="168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delivers comprehensive capabilities tailored to each stakeholder.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26043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154" y="1922859"/>
            <a:ext cx="2739390" cy="2739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9154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Features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59154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8982" y="5095756"/>
            <a:ext cx="199668" cy="1996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36702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Multi-Channel Requests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136702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via WhatsApp or web portal.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759154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08982" y="5657255"/>
            <a:ext cx="199668" cy="1996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136702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Tracking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136702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orders from dispatch to delivery.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59154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08982" y="6218753"/>
            <a:ext cx="199668" cy="1996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36702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Transparent Status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136702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visibility on approval &amp; fulfillment.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2759154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08982" y="6780252"/>
            <a:ext cx="199668" cy="1996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36702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Access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136702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Guaranteed role-based secure access.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772388" y="1834991"/>
            <a:ext cx="3005614" cy="5388650"/>
          </a:xfrm>
          <a:prstGeom prst="roundRect">
            <a:avLst>
              <a:gd name="adj" fmla="val 6379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5500" y="1922859"/>
            <a:ext cx="2739390" cy="27393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05500" y="4750117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Features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5905500" y="504598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955328" y="5095756"/>
            <a:ext cx="199668" cy="1996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283047" y="5110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Dashboard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6283047" y="5316022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Company-wide operational visibility.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5905500" y="5607487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55328" y="5657255"/>
            <a:ext cx="199668" cy="19966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283047" y="56720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Workflow Automation</a:t>
            </a:r>
            <a:endParaRPr lang="en-US" sz="1000" dirty="0"/>
          </a:p>
        </p:txBody>
      </p:sp>
      <p:sp>
        <p:nvSpPr>
          <p:cNvPr id="33" name="Text 23"/>
          <p:cNvSpPr/>
          <p:nvPr/>
        </p:nvSpPr>
        <p:spPr>
          <a:xfrm>
            <a:off x="6283047" y="5877520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Faster approvals, enforced policies.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905500" y="6168985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955328" y="6218753"/>
            <a:ext cx="199668" cy="1996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283047" y="6233517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Budget Control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6283047" y="6439019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Monitor and control budgets &amp; spending.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5905500" y="6730484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55328" y="6780252"/>
            <a:ext cx="199668" cy="19966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283047" y="6795016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Reporting &amp; Analytics</a:t>
            </a:r>
            <a:endParaRPr lang="en-US" sz="1000" dirty="0"/>
          </a:p>
        </p:txBody>
      </p:sp>
      <p:sp>
        <p:nvSpPr>
          <p:cNvPr id="41" name="Text 29"/>
          <p:cNvSpPr/>
          <p:nvPr/>
        </p:nvSpPr>
        <p:spPr>
          <a:xfrm>
            <a:off x="6283047" y="7000518"/>
            <a:ext cx="2361843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on requests &amp; spend.</a:t>
            </a:r>
            <a:endParaRPr lang="en-US" sz="1000" dirty="0"/>
          </a:p>
        </p:txBody>
      </p:sp>
      <p:sp>
        <p:nvSpPr>
          <p:cNvPr id="42" name="Shape 30"/>
          <p:cNvSpPr/>
          <p:nvPr/>
        </p:nvSpPr>
        <p:spPr>
          <a:xfrm>
            <a:off x="8918734" y="1834991"/>
            <a:ext cx="3100626" cy="5388650"/>
          </a:xfrm>
          <a:prstGeom prst="roundRect">
            <a:avLst>
              <a:gd name="adj" fmla="val 6183"/>
            </a:avLst>
          </a:prstGeom>
          <a:solidFill>
            <a:srgbClr val="D4E8F7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51846" y="1970461"/>
            <a:ext cx="2689050" cy="2689050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9051846" y="4747379"/>
            <a:ext cx="1664137" cy="20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Features</a:t>
            </a:r>
            <a:endParaRPr lang="en-US" sz="1600" dirty="0"/>
          </a:p>
        </p:txBody>
      </p:sp>
      <p:sp>
        <p:nvSpPr>
          <p:cNvPr id="45" name="Shape 32"/>
          <p:cNvSpPr/>
          <p:nvPr/>
        </p:nvSpPr>
        <p:spPr>
          <a:xfrm>
            <a:off x="9051846" y="5043249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18342" y="5653325"/>
            <a:ext cx="199668" cy="19966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9429393" y="510778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Order Consolidation</a:t>
            </a:r>
            <a:endParaRPr lang="en-US" sz="1000" dirty="0"/>
          </a:p>
        </p:txBody>
      </p:sp>
      <p:sp>
        <p:nvSpPr>
          <p:cNvPr id="48" name="Text 34"/>
          <p:cNvSpPr/>
          <p:nvPr/>
        </p:nvSpPr>
        <p:spPr>
          <a:xfrm>
            <a:off x="9429393" y="5313283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Streamlined procurement demand.</a:t>
            </a:r>
            <a:endParaRPr lang="en-US" sz="1000" dirty="0"/>
          </a:p>
        </p:txBody>
      </p:sp>
      <p:sp>
        <p:nvSpPr>
          <p:cNvPr id="49" name="Shape 35"/>
          <p:cNvSpPr/>
          <p:nvPr/>
        </p:nvSpPr>
        <p:spPr>
          <a:xfrm>
            <a:off x="9051846" y="5101828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01673" y="5151596"/>
            <a:ext cx="199668" cy="199668"/>
          </a:xfrm>
          <a:prstGeom prst="rect">
            <a:avLst/>
          </a:prstGeom>
        </p:spPr>
      </p:pic>
      <p:sp>
        <p:nvSpPr>
          <p:cNvPr id="51" name="Text 36"/>
          <p:cNvSpPr/>
          <p:nvPr/>
        </p:nvSpPr>
        <p:spPr>
          <a:xfrm>
            <a:off x="9429393" y="5669280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Inventory Management</a:t>
            </a:r>
            <a:endParaRPr lang="en-US" sz="1000" dirty="0"/>
          </a:p>
        </p:txBody>
      </p:sp>
      <p:sp>
        <p:nvSpPr>
          <p:cNvPr id="52" name="Text 37"/>
          <p:cNvSpPr/>
          <p:nvPr/>
        </p:nvSpPr>
        <p:spPr>
          <a:xfrm>
            <a:off x="9429393" y="5874782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stock for better planning.</a:t>
            </a:r>
            <a:endParaRPr lang="en-US" sz="10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01673" y="6216015"/>
            <a:ext cx="199668" cy="19966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9429393" y="623077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Logistics Automation</a:t>
            </a:r>
            <a:endParaRPr lang="en-US" sz="1000" dirty="0"/>
          </a:p>
        </p:txBody>
      </p:sp>
      <p:sp>
        <p:nvSpPr>
          <p:cNvPr id="56" name="Text 40"/>
          <p:cNvSpPr/>
          <p:nvPr/>
        </p:nvSpPr>
        <p:spPr>
          <a:xfrm>
            <a:off x="9429393" y="6436281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shipments.</a:t>
            </a:r>
            <a:endParaRPr lang="en-US" sz="1000" dirty="0"/>
          </a:p>
        </p:txBody>
      </p:sp>
      <p:sp>
        <p:nvSpPr>
          <p:cNvPr id="57" name="Shape 41"/>
          <p:cNvSpPr/>
          <p:nvPr/>
        </p:nvSpPr>
        <p:spPr>
          <a:xfrm>
            <a:off x="9051846" y="6727746"/>
            <a:ext cx="299442" cy="299442"/>
          </a:xfrm>
          <a:prstGeom prst="roundRect">
            <a:avLst>
              <a:gd name="adj" fmla="val 4001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01673" y="6759226"/>
            <a:ext cx="199668" cy="1996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9429393" y="6792278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Workflow</a:t>
            </a:r>
            <a:endParaRPr lang="en-US" sz="1000" dirty="0"/>
          </a:p>
        </p:txBody>
      </p:sp>
      <p:sp>
        <p:nvSpPr>
          <p:cNvPr id="60" name="Text 43"/>
          <p:cNvSpPr/>
          <p:nvPr/>
        </p:nvSpPr>
        <p:spPr>
          <a:xfrm>
            <a:off x="9429393" y="6997779"/>
            <a:ext cx="2456855" cy="135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reconciliation &amp; faster processing.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526" y="818674"/>
            <a:ext cx="7344966" cy="69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Technology Foundation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526" y="1956197"/>
            <a:ext cx="1306734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UDS integrates seamlessly with enterprise systems and external platforms, creating a robust technology backbone that operates reliably at scale.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26" y="2912626"/>
            <a:ext cx="1488877" cy="14888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45199" y="2912626"/>
            <a:ext cx="2408873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WhatsApp Business APIs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2545199" y="3742134"/>
            <a:ext cx="2408873" cy="141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integration for mobile-first employee order with instant messaging capabilities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868" y="2912626"/>
            <a:ext cx="1488877" cy="1488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92541" y="2912626"/>
            <a:ext cx="240887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Logistics Partners</a:t>
            </a:r>
            <a:endParaRPr lang="en-US" sz="2150" dirty="0"/>
          </a:p>
        </p:txBody>
      </p:sp>
      <p:sp>
        <p:nvSpPr>
          <p:cNvPr id="9" name="Text 5"/>
          <p:cNvSpPr/>
          <p:nvPr/>
        </p:nvSpPr>
        <p:spPr>
          <a:xfrm>
            <a:off x="6992541" y="3393281"/>
            <a:ext cx="2408873" cy="177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Connected with Shiprocket, Eshipz, ClickPost for nationwide delivery coverage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6209" y="2912626"/>
            <a:ext cx="1488877" cy="14888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9882" y="2912626"/>
            <a:ext cx="2408992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Finance Workflows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11439882" y="3742134"/>
            <a:ext cx="2408992" cy="2127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Bridges operations and finance by embedding PR-PO compliance.</a:t>
            </a:r>
            <a:endParaRPr lang="en-US" sz="175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ensures clean invoicing, accurate GRNs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81526" y="6116836"/>
            <a:ext cx="13067348" cy="1293971"/>
          </a:xfrm>
          <a:prstGeom prst="roundRect">
            <a:avLst>
              <a:gd name="adj" fmla="val 15532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768" y="6451878"/>
            <a:ext cx="279083" cy="2232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7093" y="6392347"/>
            <a:ext cx="12118538" cy="709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data flows in real time across integrated systems—</a:t>
            </a:r>
            <a:r>
              <a:rPr lang="en-US" sz="1750" b="1" dirty="0">
                <a:solidFill>
                  <a:srgbClr val="3371A5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eliminating manual reconciliation entirely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ensuring accuracy at every touchpoint.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3D8D-CE06-DD08-EEE1-8CD6FF62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3E8FD-D815-ABD4-8DF7-F8A73A54AE8E}"/>
              </a:ext>
            </a:extLst>
          </p:cNvPr>
          <p:cNvSpPr txBox="1"/>
          <p:nvPr/>
        </p:nvSpPr>
        <p:spPr>
          <a:xfrm>
            <a:off x="567158" y="428262"/>
            <a:ext cx="12859475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Tech Stack</a:t>
            </a:r>
          </a:p>
          <a:p>
            <a:endParaRPr lang="en-US" sz="3600" dirty="0"/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Front end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React Framework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Typescript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CSS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Back end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REST API ( 114 APIs)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Node.js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Repository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 err="1"/>
              <a:t>Github</a:t>
            </a:r>
            <a:endParaRPr lang="en-US" sz="2000" dirty="0"/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Database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Mongo DB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Integration Email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SMTP, </a:t>
            </a:r>
            <a:r>
              <a:rPr lang="en-US" sz="2000" dirty="0" err="1"/>
              <a:t>Nodemailer</a:t>
            </a:r>
            <a:endParaRPr lang="en-US" sz="2000" dirty="0"/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800" dirty="0"/>
              <a:t>Security</a:t>
            </a:r>
          </a:p>
          <a:p>
            <a:pPr marL="1143000" lvl="1" indent="-685800">
              <a:buFont typeface="Wingdings" panose="05000000000000000000" pitchFamily="2" charset="2"/>
              <a:buChar char="§"/>
            </a:pPr>
            <a:r>
              <a:rPr lang="en-US" sz="2000" dirty="0"/>
              <a:t>Custom auth ( Role-based access (Super Admin, Company, Vendor, Consumer), API auth helpers)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05093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08ECB4-41CC-3067-8580-31F867018B23}"/>
              </a:ext>
            </a:extLst>
          </p:cNvPr>
          <p:cNvSpPr txBox="1"/>
          <p:nvPr/>
        </p:nvSpPr>
        <p:spPr>
          <a:xfrm>
            <a:off x="4525701" y="3611301"/>
            <a:ext cx="5104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DEMO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436074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190D-B912-4979-2F85-3774997A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D4ADD9-0149-0978-970B-C181A42898CB}"/>
              </a:ext>
            </a:extLst>
          </p:cNvPr>
          <p:cNvSpPr txBox="1"/>
          <p:nvPr/>
        </p:nvSpPr>
        <p:spPr>
          <a:xfrm>
            <a:off x="4525701" y="3611301"/>
            <a:ext cx="5104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Lessons Learnt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856566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4838-D4B4-EB58-8DC4-13B4AF7A2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2A63A-B3A5-3369-3B1F-55B5B00D0ED0}"/>
              </a:ext>
            </a:extLst>
          </p:cNvPr>
          <p:cNvSpPr txBox="1"/>
          <p:nvPr/>
        </p:nvSpPr>
        <p:spPr>
          <a:xfrm>
            <a:off x="4525701" y="3611301"/>
            <a:ext cx="5104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BACKUP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695183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8414" y="400764"/>
            <a:ext cx="3454122" cy="431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UDS Philosophy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2448997" y="958691"/>
            <a:ext cx="3810000" cy="1424226"/>
          </a:xfrm>
          <a:prstGeom prst="roundRect">
            <a:avLst>
              <a:gd name="adj" fmla="val 13970"/>
            </a:avLst>
          </a:prstGeom>
          <a:solidFill>
            <a:srgbClr val="3371A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87109" y="1042749"/>
            <a:ext cx="2072521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Our Core Belief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87109" y="1385888"/>
            <a:ext cx="3533775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"Every stakeholder should win—without creating extra work for anyone else."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04146" y="1042749"/>
            <a:ext cx="2290167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Designing for Triple Success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04146" y="1342668"/>
            <a:ext cx="5585341" cy="53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Rather than optimising for just one party at the expense of others, UDS orchestrates a single, automated workflow that benefits employees, employers, and vendors simultaneously.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04146" y="1951673"/>
            <a:ext cx="5585341" cy="355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result? A system where efficiency gains are shared, frustrations disappear, and everyone experiences genuine improvement in their daily operations.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197" y="2477572"/>
            <a:ext cx="5383887" cy="50787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0102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Employee Experience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140102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Delight staff with seamless, low-effort workflows.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27112" y="3197724"/>
            <a:ext cx="1709162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Employer Control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7112" y="3810246"/>
            <a:ext cx="1709162" cy="68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Maintain oversight without extra administrative burden.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90240" y="5629190"/>
            <a:ext cx="1709161" cy="536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Vendor Efficiency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90240" y="6241712"/>
            <a:ext cx="1709161" cy="517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Streamline partners to reduce friction and cost.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548414" y="7650956"/>
            <a:ext cx="9533573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unified approach eliminates trade-offs and creates a genuinely collaborative ecosystem.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6219</TotalTime>
  <Words>755</Words>
  <Application>Microsoft Office PowerPoint</Application>
  <PresentationFormat>Custom</PresentationFormat>
  <Paragraphs>137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Instrument Sans Medium</vt:lpstr>
      <vt:lpstr>Wingdings</vt:lpstr>
      <vt:lpstr>Arial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Puranmal Agrawal</cp:lastModifiedBy>
  <cp:revision>1</cp:revision>
  <dcterms:created xsi:type="dcterms:W3CDTF">2026-01-29T05:00:34Z</dcterms:created>
  <dcterms:modified xsi:type="dcterms:W3CDTF">2026-02-17T06:33:48Z</dcterms:modified>
</cp:coreProperties>
</file>