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0" r:id="rId12"/>
  </p:sldIdLst>
  <p:sldSz cx="14630400" cy="8229600"/>
  <p:notesSz cx="8229600" cy="14630400"/>
  <p:embeddedFontLst>
    <p:embeddedFont>
      <p:font typeface="Instrument Sans Medium" panose="020B0604020202020204" charset="0"/>
      <p:regular r:id="rId14"/>
    </p:embeddedFont>
    <p:embeddedFont>
      <p:font typeface="Instrument Sans Semi Bold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6A7612-6602-439E-8C1C-47CE35AAF898}" v="3" dt="2026-02-13T06:52:00.5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0" d="100"/>
          <a:sy n="70" d="100"/>
        </p:scale>
        <p:origin x="-72" y="-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uranmal Agrawal" userId="40b1e8c6-db4f-48a2-86dc-a3e265427d64" providerId="ADAL" clId="{F348C465-734F-435E-A615-EFD8A7B2865B}"/>
    <pc:docChg chg="undo custSel addSld modSld sldOrd">
      <pc:chgData name="Puranmal Agrawal" userId="40b1e8c6-db4f-48a2-86dc-a3e265427d64" providerId="ADAL" clId="{F348C465-734F-435E-A615-EFD8A7B2865B}" dt="2026-02-13T06:52:23.676" v="446" actId="478"/>
      <pc:docMkLst>
        <pc:docMk/>
      </pc:docMkLst>
      <pc:sldChg chg="ord">
        <pc:chgData name="Puranmal Agrawal" userId="40b1e8c6-db4f-48a2-86dc-a3e265427d64" providerId="ADAL" clId="{F348C465-734F-435E-A615-EFD8A7B2865B}" dt="2026-02-13T06:39:05.733" v="265"/>
        <pc:sldMkLst>
          <pc:docMk/>
          <pc:sldMk cId="0" sldId="260"/>
        </pc:sldMkLst>
      </pc:sldChg>
      <pc:sldChg chg="addSp delSp modSp mod">
        <pc:chgData name="Puranmal Agrawal" userId="40b1e8c6-db4f-48a2-86dc-a3e265427d64" providerId="ADAL" clId="{F348C465-734F-435E-A615-EFD8A7B2865B}" dt="2026-02-13T06:52:23.676" v="446" actId="478"/>
        <pc:sldMkLst>
          <pc:docMk/>
          <pc:sldMk cId="0" sldId="262"/>
        </pc:sldMkLst>
        <pc:spChg chg="mod">
          <ac:chgData name="Puranmal Agrawal" userId="40b1e8c6-db4f-48a2-86dc-a3e265427d64" providerId="ADAL" clId="{F348C465-734F-435E-A615-EFD8A7B2865B}" dt="2026-01-29T05:07:06.872" v="1" actId="14100"/>
          <ac:spMkLst>
            <pc:docMk/>
            <pc:sldMk cId="0" sldId="262"/>
            <ac:spMk id="42" creationId="{00000000-0000-0000-0000-000000000000}"/>
          </ac:spMkLst>
        </pc:spChg>
        <pc:spChg chg="mod">
          <ac:chgData name="Puranmal Agrawal" userId="40b1e8c6-db4f-48a2-86dc-a3e265427d64" providerId="ADAL" clId="{F348C465-734F-435E-A615-EFD8A7B2865B}" dt="2026-02-13T06:51:07.602" v="322" actId="1036"/>
          <ac:spMkLst>
            <pc:docMk/>
            <pc:sldMk cId="0" sldId="262"/>
            <ac:spMk id="44" creationId="{00000000-0000-0000-0000-000000000000}"/>
          </ac:spMkLst>
        </pc:spChg>
        <pc:spChg chg="mod">
          <ac:chgData name="Puranmal Agrawal" userId="40b1e8c6-db4f-48a2-86dc-a3e265427d64" providerId="ADAL" clId="{F348C465-734F-435E-A615-EFD8A7B2865B}" dt="2026-02-13T06:51:07.602" v="322" actId="1036"/>
          <ac:spMkLst>
            <pc:docMk/>
            <pc:sldMk cId="0" sldId="262"/>
            <ac:spMk id="45" creationId="{00000000-0000-0000-0000-000000000000}"/>
          </ac:spMkLst>
        </pc:spChg>
        <pc:spChg chg="mod">
          <ac:chgData name="Puranmal Agrawal" userId="40b1e8c6-db4f-48a2-86dc-a3e265427d64" providerId="ADAL" clId="{F348C465-734F-435E-A615-EFD8A7B2865B}" dt="2026-02-13T06:51:07.602" v="322" actId="1036"/>
          <ac:spMkLst>
            <pc:docMk/>
            <pc:sldMk cId="0" sldId="262"/>
            <ac:spMk id="47" creationId="{00000000-0000-0000-0000-000000000000}"/>
          </ac:spMkLst>
        </pc:spChg>
        <pc:spChg chg="mod">
          <ac:chgData name="Puranmal Agrawal" userId="40b1e8c6-db4f-48a2-86dc-a3e265427d64" providerId="ADAL" clId="{F348C465-734F-435E-A615-EFD8A7B2865B}" dt="2026-02-13T06:51:07.602" v="322" actId="1036"/>
          <ac:spMkLst>
            <pc:docMk/>
            <pc:sldMk cId="0" sldId="262"/>
            <ac:spMk id="48" creationId="{00000000-0000-0000-0000-000000000000}"/>
          </ac:spMkLst>
        </pc:spChg>
        <pc:spChg chg="mod">
          <ac:chgData name="Puranmal Agrawal" userId="40b1e8c6-db4f-48a2-86dc-a3e265427d64" providerId="ADAL" clId="{F348C465-734F-435E-A615-EFD8A7B2865B}" dt="2026-02-13T06:51:07.602" v="322" actId="1036"/>
          <ac:spMkLst>
            <pc:docMk/>
            <pc:sldMk cId="0" sldId="262"/>
            <ac:spMk id="51" creationId="{00000000-0000-0000-0000-000000000000}"/>
          </ac:spMkLst>
        </pc:spChg>
        <pc:spChg chg="mod">
          <ac:chgData name="Puranmal Agrawal" userId="40b1e8c6-db4f-48a2-86dc-a3e265427d64" providerId="ADAL" clId="{F348C465-734F-435E-A615-EFD8A7B2865B}" dt="2026-02-13T06:51:07.602" v="322" actId="1036"/>
          <ac:spMkLst>
            <pc:docMk/>
            <pc:sldMk cId="0" sldId="262"/>
            <ac:spMk id="52" creationId="{00000000-0000-0000-0000-000000000000}"/>
          </ac:spMkLst>
        </pc:spChg>
        <pc:spChg chg="del">
          <ac:chgData name="Puranmal Agrawal" userId="40b1e8c6-db4f-48a2-86dc-a3e265427d64" providerId="ADAL" clId="{F348C465-734F-435E-A615-EFD8A7B2865B}" dt="2026-02-13T06:52:23.676" v="446" actId="478"/>
          <ac:spMkLst>
            <pc:docMk/>
            <pc:sldMk cId="0" sldId="262"/>
            <ac:spMk id="53" creationId="{00000000-0000-0000-0000-000000000000}"/>
          </ac:spMkLst>
        </pc:spChg>
        <pc:spChg chg="mod">
          <ac:chgData name="Puranmal Agrawal" userId="40b1e8c6-db4f-48a2-86dc-a3e265427d64" providerId="ADAL" clId="{F348C465-734F-435E-A615-EFD8A7B2865B}" dt="2026-02-13T06:51:07.602" v="322" actId="1036"/>
          <ac:spMkLst>
            <pc:docMk/>
            <pc:sldMk cId="0" sldId="262"/>
            <ac:spMk id="55" creationId="{00000000-0000-0000-0000-000000000000}"/>
          </ac:spMkLst>
        </pc:spChg>
        <pc:spChg chg="mod">
          <ac:chgData name="Puranmal Agrawal" userId="40b1e8c6-db4f-48a2-86dc-a3e265427d64" providerId="ADAL" clId="{F348C465-734F-435E-A615-EFD8A7B2865B}" dt="2026-02-13T06:51:07.602" v="322" actId="1036"/>
          <ac:spMkLst>
            <pc:docMk/>
            <pc:sldMk cId="0" sldId="262"/>
            <ac:spMk id="56" creationId="{00000000-0000-0000-0000-000000000000}"/>
          </ac:spMkLst>
        </pc:spChg>
        <pc:spChg chg="mod">
          <ac:chgData name="Puranmal Agrawal" userId="40b1e8c6-db4f-48a2-86dc-a3e265427d64" providerId="ADAL" clId="{F348C465-734F-435E-A615-EFD8A7B2865B}" dt="2026-02-13T06:51:07.602" v="322" actId="1036"/>
          <ac:spMkLst>
            <pc:docMk/>
            <pc:sldMk cId="0" sldId="262"/>
            <ac:spMk id="57" creationId="{00000000-0000-0000-0000-000000000000}"/>
          </ac:spMkLst>
        </pc:spChg>
        <pc:spChg chg="mod">
          <ac:chgData name="Puranmal Agrawal" userId="40b1e8c6-db4f-48a2-86dc-a3e265427d64" providerId="ADAL" clId="{F348C465-734F-435E-A615-EFD8A7B2865B}" dt="2026-02-13T06:51:07.602" v="322" actId="1036"/>
          <ac:spMkLst>
            <pc:docMk/>
            <pc:sldMk cId="0" sldId="262"/>
            <ac:spMk id="59" creationId="{00000000-0000-0000-0000-000000000000}"/>
          </ac:spMkLst>
        </pc:spChg>
        <pc:spChg chg="add del mod ord">
          <ac:chgData name="Puranmal Agrawal" userId="40b1e8c6-db4f-48a2-86dc-a3e265427d64" providerId="ADAL" clId="{F348C465-734F-435E-A615-EFD8A7B2865B}" dt="2026-02-13T06:52:21.847" v="445" actId="478"/>
          <ac:spMkLst>
            <pc:docMk/>
            <pc:sldMk cId="0" sldId="262"/>
            <ac:spMk id="61" creationId="{3CE64A81-D324-13DB-5391-C056AD548B05}"/>
          </ac:spMkLst>
        </pc:spChg>
        <pc:picChg chg="mod">
          <ac:chgData name="Puranmal Agrawal" userId="40b1e8c6-db4f-48a2-86dc-a3e265427d64" providerId="ADAL" clId="{F348C465-734F-435E-A615-EFD8A7B2865B}" dt="2026-02-13T06:51:15.902" v="323" actId="14100"/>
          <ac:picMkLst>
            <pc:docMk/>
            <pc:sldMk cId="0" sldId="262"/>
            <ac:picMk id="43" creationId="{00000000-0000-0000-0000-000000000000}"/>
          </ac:picMkLst>
        </pc:picChg>
        <pc:picChg chg="mod">
          <ac:chgData name="Puranmal Agrawal" userId="40b1e8c6-db4f-48a2-86dc-a3e265427d64" providerId="ADAL" clId="{F348C465-734F-435E-A615-EFD8A7B2865B}" dt="2026-02-13T06:51:35.091" v="342" actId="1076"/>
          <ac:picMkLst>
            <pc:docMk/>
            <pc:sldMk cId="0" sldId="262"/>
            <ac:picMk id="46" creationId="{00000000-0000-0000-0000-000000000000}"/>
          </ac:picMkLst>
        </pc:picChg>
        <pc:picChg chg="mod">
          <ac:chgData name="Puranmal Agrawal" userId="40b1e8c6-db4f-48a2-86dc-a3e265427d64" providerId="ADAL" clId="{F348C465-734F-435E-A615-EFD8A7B2865B}" dt="2026-02-13T06:51:42.772" v="344" actId="1076"/>
          <ac:picMkLst>
            <pc:docMk/>
            <pc:sldMk cId="0" sldId="262"/>
            <ac:picMk id="50" creationId="{00000000-0000-0000-0000-000000000000}"/>
          </ac:picMkLst>
        </pc:picChg>
        <pc:picChg chg="mod">
          <ac:chgData name="Puranmal Agrawal" userId="40b1e8c6-db4f-48a2-86dc-a3e265427d64" providerId="ADAL" clId="{F348C465-734F-435E-A615-EFD8A7B2865B}" dt="2026-02-13T06:51:22.524" v="341" actId="1036"/>
          <ac:picMkLst>
            <pc:docMk/>
            <pc:sldMk cId="0" sldId="262"/>
            <ac:picMk id="58" creationId="{00000000-0000-0000-0000-000000000000}"/>
          </ac:picMkLst>
        </pc:picChg>
      </pc:sldChg>
      <pc:sldChg chg="addSp modSp new mod">
        <pc:chgData name="Puranmal Agrawal" userId="40b1e8c6-db4f-48a2-86dc-a3e265427d64" providerId="ADAL" clId="{F348C465-734F-435E-A615-EFD8A7B2865B}" dt="2026-02-13T06:28:12.083" v="19" actId="403"/>
        <pc:sldMkLst>
          <pc:docMk/>
          <pc:sldMk cId="1436074561" sldId="264"/>
        </pc:sldMkLst>
        <pc:spChg chg="add mod">
          <ac:chgData name="Puranmal Agrawal" userId="40b1e8c6-db4f-48a2-86dc-a3e265427d64" providerId="ADAL" clId="{F348C465-734F-435E-A615-EFD8A7B2865B}" dt="2026-02-13T06:28:12.083" v="19" actId="403"/>
          <ac:spMkLst>
            <pc:docMk/>
            <pc:sldMk cId="1436074561" sldId="264"/>
            <ac:spMk id="2" creationId="{F608ECB4-41CC-3067-8580-31F867018B23}"/>
          </ac:spMkLst>
        </pc:spChg>
      </pc:sldChg>
      <pc:sldChg chg="modSp add mod">
        <pc:chgData name="Puranmal Agrawal" userId="40b1e8c6-db4f-48a2-86dc-a3e265427d64" providerId="ADAL" clId="{F348C465-734F-435E-A615-EFD8A7B2865B}" dt="2026-02-13T06:34:44.758" v="263" actId="20577"/>
        <pc:sldMkLst>
          <pc:docMk/>
          <pc:sldMk cId="4050934423" sldId="265"/>
        </pc:sldMkLst>
        <pc:spChg chg="mod">
          <ac:chgData name="Puranmal Agrawal" userId="40b1e8c6-db4f-48a2-86dc-a3e265427d64" providerId="ADAL" clId="{F348C465-734F-435E-A615-EFD8A7B2865B}" dt="2026-02-13T06:34:44.758" v="263" actId="20577"/>
          <ac:spMkLst>
            <pc:docMk/>
            <pc:sldMk cId="4050934423" sldId="265"/>
            <ac:spMk id="2" creationId="{C833E8FD-D815-ABD4-8DF7-F8A73A54AE8E}"/>
          </ac:spMkLst>
        </pc:spChg>
      </pc:sldChg>
      <pc:sldChg chg="modSp add mod ord">
        <pc:chgData name="Puranmal Agrawal" userId="40b1e8c6-db4f-48a2-86dc-a3e265427d64" providerId="ADAL" clId="{F348C465-734F-435E-A615-EFD8A7B2865B}" dt="2026-02-13T06:39:19.711" v="274" actId="20577"/>
        <pc:sldMkLst>
          <pc:docMk/>
          <pc:sldMk cId="1695183591" sldId="266"/>
        </pc:sldMkLst>
        <pc:spChg chg="mod">
          <ac:chgData name="Puranmal Agrawal" userId="40b1e8c6-db4f-48a2-86dc-a3e265427d64" providerId="ADAL" clId="{F348C465-734F-435E-A615-EFD8A7B2865B}" dt="2026-02-13T06:39:19.711" v="274" actId="20577"/>
          <ac:spMkLst>
            <pc:docMk/>
            <pc:sldMk cId="1695183591" sldId="266"/>
            <ac:spMk id="2" creationId="{6B92A63A-B3A5-3369-3B1F-55B5B00D0ED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4263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png"/><Relationship Id="rId18" Type="http://schemas.openxmlformats.org/officeDocument/2006/relationships/image" Target="../media/image33.svg"/><Relationship Id="rId26" Type="http://schemas.openxmlformats.org/officeDocument/2006/relationships/image" Target="../media/image41.png"/><Relationship Id="rId3" Type="http://schemas.openxmlformats.org/officeDocument/2006/relationships/image" Target="../media/image18.png"/><Relationship Id="rId21" Type="http://schemas.openxmlformats.org/officeDocument/2006/relationships/image" Target="../media/image36.png"/><Relationship Id="rId7" Type="http://schemas.openxmlformats.org/officeDocument/2006/relationships/image" Target="../media/image22.svg"/><Relationship Id="rId12" Type="http://schemas.openxmlformats.org/officeDocument/2006/relationships/image" Target="../media/image27.png"/><Relationship Id="rId17" Type="http://schemas.openxmlformats.org/officeDocument/2006/relationships/image" Target="../media/image32.png"/><Relationship Id="rId25" Type="http://schemas.openxmlformats.org/officeDocument/2006/relationships/image" Target="../media/image40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31.svg"/><Relationship Id="rId20" Type="http://schemas.openxmlformats.org/officeDocument/2006/relationships/image" Target="../media/image35.svg"/><Relationship Id="rId29" Type="http://schemas.openxmlformats.org/officeDocument/2006/relationships/image" Target="../media/image44.sv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1.png"/><Relationship Id="rId11" Type="http://schemas.openxmlformats.org/officeDocument/2006/relationships/image" Target="../media/image26.svg"/><Relationship Id="rId24" Type="http://schemas.openxmlformats.org/officeDocument/2006/relationships/image" Target="../media/image39.png"/><Relationship Id="rId5" Type="http://schemas.openxmlformats.org/officeDocument/2006/relationships/image" Target="../media/image20.svg"/><Relationship Id="rId15" Type="http://schemas.openxmlformats.org/officeDocument/2006/relationships/image" Target="../media/image30.png"/><Relationship Id="rId23" Type="http://schemas.openxmlformats.org/officeDocument/2006/relationships/image" Target="../media/image38.svg"/><Relationship Id="rId28" Type="http://schemas.openxmlformats.org/officeDocument/2006/relationships/image" Target="../media/image43.png"/><Relationship Id="rId10" Type="http://schemas.openxmlformats.org/officeDocument/2006/relationships/image" Target="../media/image25.png"/><Relationship Id="rId19" Type="http://schemas.openxmlformats.org/officeDocument/2006/relationships/image" Target="../media/image34.png"/><Relationship Id="rId4" Type="http://schemas.openxmlformats.org/officeDocument/2006/relationships/image" Target="../media/image19.png"/><Relationship Id="rId9" Type="http://schemas.openxmlformats.org/officeDocument/2006/relationships/image" Target="../media/image24.svg"/><Relationship Id="rId14" Type="http://schemas.openxmlformats.org/officeDocument/2006/relationships/image" Target="../media/image29.svg"/><Relationship Id="rId22" Type="http://schemas.openxmlformats.org/officeDocument/2006/relationships/image" Target="../media/image37.png"/><Relationship Id="rId27" Type="http://schemas.openxmlformats.org/officeDocument/2006/relationships/image" Target="../media/image4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872978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Uniform Distribution System (UDS)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4630698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Transforming corporate uniform management through intelligent automation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5508" y="1341596"/>
            <a:ext cx="4064794" cy="467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50"/>
              </a:lnSpc>
              <a:buNone/>
            </a:pPr>
            <a:r>
              <a:rPr lang="en-US" sz="290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The Uniform Challenge</a:t>
            </a:r>
            <a:endParaRPr lang="en-US" sz="2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794" y="2067639"/>
            <a:ext cx="3672364" cy="36723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970990" y="2055376"/>
            <a:ext cx="4391025" cy="2803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How do uniforms reach employees today?</a:t>
            </a:r>
            <a:endParaRPr lang="en-US" sz="1750" dirty="0"/>
          </a:p>
        </p:txBody>
      </p:sp>
      <p:sp>
        <p:nvSpPr>
          <p:cNvPr id="5" name="Shape 2"/>
          <p:cNvSpPr/>
          <p:nvPr/>
        </p:nvSpPr>
        <p:spPr>
          <a:xfrm>
            <a:off x="6970990" y="2446615"/>
            <a:ext cx="2706410" cy="1972389"/>
          </a:xfrm>
          <a:prstGeom prst="roundRect">
            <a:avLst>
              <a:gd name="adj" fmla="val 6824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3"/>
          <p:cNvSpPr/>
          <p:nvPr/>
        </p:nvSpPr>
        <p:spPr>
          <a:xfrm>
            <a:off x="7120533" y="2596158"/>
            <a:ext cx="448628" cy="448628"/>
          </a:xfrm>
          <a:prstGeom prst="roundRect">
            <a:avLst>
              <a:gd name="adj" fmla="val 20380105"/>
            </a:avLst>
          </a:prstGeom>
          <a:solidFill>
            <a:srgbClr val="84C1F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43882" y="2719507"/>
            <a:ext cx="201811" cy="20181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120533" y="3143369"/>
            <a:ext cx="1978938" cy="233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Fragmented Channels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120533" y="3475553"/>
            <a:ext cx="2407325" cy="793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Communication across various platforms like email, phone and WhatsApp leads to disorganization.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9775984" y="2446615"/>
            <a:ext cx="2706410" cy="1972389"/>
          </a:xfrm>
          <a:prstGeom prst="roundRect">
            <a:avLst>
              <a:gd name="adj" fmla="val 6824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7"/>
          <p:cNvSpPr/>
          <p:nvPr/>
        </p:nvSpPr>
        <p:spPr>
          <a:xfrm>
            <a:off x="9925526" y="2596158"/>
            <a:ext cx="448628" cy="448628"/>
          </a:xfrm>
          <a:prstGeom prst="roundRect">
            <a:avLst>
              <a:gd name="adj" fmla="val 20380105"/>
            </a:avLst>
          </a:prstGeom>
          <a:solidFill>
            <a:srgbClr val="84C1F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48875" y="2719507"/>
            <a:ext cx="201811" cy="20181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925526" y="3143369"/>
            <a:ext cx="1869400" cy="233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Manual Tracking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9925526" y="3475553"/>
            <a:ext cx="2407325" cy="595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Relying on spreadsheets for tracking is prone to errors and inefficiencies.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970990" y="4517588"/>
            <a:ext cx="2706410" cy="1773912"/>
          </a:xfrm>
          <a:prstGeom prst="roundRect">
            <a:avLst>
              <a:gd name="adj" fmla="val 7588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7120533" y="4667131"/>
            <a:ext cx="448628" cy="448628"/>
          </a:xfrm>
          <a:prstGeom prst="roundRect">
            <a:avLst>
              <a:gd name="adj" fmla="val 20380105"/>
            </a:avLst>
          </a:prstGeom>
          <a:solidFill>
            <a:srgbClr val="84C1F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43882" y="4790480"/>
            <a:ext cx="201811" cy="20181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120533" y="5214342"/>
            <a:ext cx="1895951" cy="233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Excessive Follow-ups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7120533" y="5546527"/>
            <a:ext cx="2407325" cy="595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Constant manual coordination consumes valuable time and resources.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9775984" y="4517588"/>
            <a:ext cx="2706410" cy="1773912"/>
          </a:xfrm>
          <a:prstGeom prst="roundRect">
            <a:avLst>
              <a:gd name="adj" fmla="val 7588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5"/>
          <p:cNvSpPr/>
          <p:nvPr/>
        </p:nvSpPr>
        <p:spPr>
          <a:xfrm>
            <a:off x="9925526" y="4667131"/>
            <a:ext cx="448628" cy="448628"/>
          </a:xfrm>
          <a:prstGeom prst="roundRect">
            <a:avLst>
              <a:gd name="adj" fmla="val 20380105"/>
            </a:avLst>
          </a:prstGeom>
          <a:solidFill>
            <a:srgbClr val="84C1F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048875" y="4790480"/>
            <a:ext cx="201811" cy="201811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925526" y="5214342"/>
            <a:ext cx="1869400" cy="233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Scalability Issues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9925526" y="5546527"/>
            <a:ext cx="2407325" cy="595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Managing uniforms across multiple locations and vendors is increasingly difficult.</a:t>
            </a:r>
            <a:endParaRPr lang="en-US" sz="1150" dirty="0"/>
          </a:p>
        </p:txBody>
      </p:sp>
      <p:sp>
        <p:nvSpPr>
          <p:cNvPr id="25" name="Text 18"/>
          <p:cNvSpPr/>
          <p:nvPr/>
        </p:nvSpPr>
        <p:spPr>
          <a:xfrm>
            <a:off x="6970990" y="6402348"/>
            <a:ext cx="5511403" cy="396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This is precisely where UDS transforms the game. UDS is designed so every feature creates value for at least one stakeholder — and friction for none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5298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What is UDS?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115389"/>
            <a:ext cx="4196358" cy="1669852"/>
          </a:xfrm>
          <a:prstGeom prst="roundRect">
            <a:avLst>
              <a:gd name="adj" fmla="val 12225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020604" y="3342203"/>
            <a:ext cx="284285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B2B2C SaaS Platform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20604" y="3832622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Unified workflow connecting all stakeholders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5216962" y="3115389"/>
            <a:ext cx="4196358" cy="1669852"/>
          </a:xfrm>
          <a:prstGeom prst="roundRect">
            <a:avLst>
              <a:gd name="adj" fmla="val 12225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443776" y="3342203"/>
            <a:ext cx="294203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Single Source of Truth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43776" y="3832622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From request to delivery to payment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9640133" y="3115389"/>
            <a:ext cx="4196358" cy="1669852"/>
          </a:xfrm>
          <a:prstGeom prst="roundRect">
            <a:avLst>
              <a:gd name="adj" fmla="val 12225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866948" y="33422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Zero Fragmentation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866948" y="3832622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One platform replacing multiple tools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1133951" y="5295543"/>
            <a:ext cx="1270265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"Think of UDS as the operating system for corporate uniforms—streamlining what was once chaotic into something beautifully simple."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93790" y="5040392"/>
            <a:ext cx="30480" cy="1236107"/>
          </a:xfrm>
          <a:prstGeom prst="rect">
            <a:avLst/>
          </a:prstGeom>
          <a:solidFill>
            <a:srgbClr val="84C1FA"/>
          </a:solidFill>
          <a:ln/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4384" y="616625"/>
            <a:ext cx="6465213" cy="7003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The Three-Way Problem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84384" y="1759863"/>
            <a:ext cx="13061633" cy="3563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Before introducing solutions, let's understand the pain points experienced by each stakeholder in the current system.</a:t>
            </a:r>
            <a:endParaRPr lang="en-US" sz="17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384" y="2365296"/>
            <a:ext cx="2418159" cy="241815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84384" y="5060275"/>
            <a:ext cx="2801541" cy="35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Employees Ask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84384" y="5543312"/>
            <a:ext cx="4169331" cy="71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"I just need my uniform—why is it so complicated?"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784384" y="6388894"/>
            <a:ext cx="4169331" cy="1069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Manual request processes</a:t>
            </a:r>
            <a:endParaRPr lang="en-US" sz="1750" dirty="0"/>
          </a:p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No delivery visibility</a:t>
            </a:r>
            <a:endParaRPr lang="en-US" sz="1750" dirty="0"/>
          </a:p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Endless  follow-ups</a:t>
            </a:r>
            <a:endParaRPr lang="en-US" sz="17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535" y="2365296"/>
            <a:ext cx="2418159" cy="241815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230535" y="5060275"/>
            <a:ext cx="2801541" cy="35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Employers Wonder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230535" y="5543312"/>
            <a:ext cx="4169331" cy="71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"Why does something operational consume so much management time?"</a:t>
            </a:r>
            <a:endParaRPr lang="en-US" sz="1750" dirty="0"/>
          </a:p>
        </p:txBody>
      </p:sp>
      <p:sp>
        <p:nvSpPr>
          <p:cNvPr id="11" name="Text 7"/>
          <p:cNvSpPr/>
          <p:nvPr/>
        </p:nvSpPr>
        <p:spPr>
          <a:xfrm>
            <a:off x="5230535" y="6388894"/>
            <a:ext cx="4169331" cy="1069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Approval bottlenecks</a:t>
            </a:r>
            <a:endParaRPr lang="en-US" sz="1750" dirty="0"/>
          </a:p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Zero spend visibility</a:t>
            </a:r>
            <a:endParaRPr lang="en-US" sz="1750" dirty="0"/>
          </a:p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Policy leakage risks</a:t>
            </a:r>
            <a:endParaRPr lang="en-US" sz="17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6686" y="2365296"/>
            <a:ext cx="2418159" cy="241815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76686" y="5060275"/>
            <a:ext cx="2801541" cy="35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Vendors Face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9676686" y="5543312"/>
            <a:ext cx="4169331" cy="71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"Orders arrive constantly, but nothing is standardised."</a:t>
            </a:r>
            <a:endParaRPr lang="en-US" sz="1750" dirty="0"/>
          </a:p>
        </p:txBody>
      </p:sp>
      <p:sp>
        <p:nvSpPr>
          <p:cNvPr id="15" name="Text 10"/>
          <p:cNvSpPr/>
          <p:nvPr/>
        </p:nvSpPr>
        <p:spPr>
          <a:xfrm>
            <a:off x="9676686" y="6388894"/>
            <a:ext cx="4169331" cy="1069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Scattered demand patterns</a:t>
            </a:r>
            <a:endParaRPr lang="en-US" sz="1750" dirty="0"/>
          </a:p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Manual fulfillment chaos</a:t>
            </a:r>
            <a:endParaRPr lang="en-US" sz="1750" dirty="0"/>
          </a:p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Delayed payments</a:t>
            </a:r>
            <a:endParaRPr lang="en-US" sz="1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857" y="960596"/>
            <a:ext cx="7317819" cy="541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250"/>
              </a:lnSpc>
              <a:buNone/>
            </a:pPr>
            <a:r>
              <a:rPr lang="en-US" sz="340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The Unified Stakeholder Experience</a:t>
            </a:r>
            <a:endParaRPr lang="en-US" sz="3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857" y="1767245"/>
            <a:ext cx="2248614" cy="224861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3857" y="4181475"/>
            <a:ext cx="3676055" cy="325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Employee: Effortless Ordering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33857" y="4585930"/>
            <a:ext cx="3877032" cy="978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Employees simply request uniforms via </a:t>
            </a:r>
            <a:r>
              <a:rPr lang="en-US" sz="13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WhatsApp</a:t>
            </a: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or the </a:t>
            </a:r>
            <a:r>
              <a:rPr lang="en-US" sz="13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web portal</a:t>
            </a: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selecting size, role, and location. UDS handles eligibility, approvals, and delivery, providing: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333857" y="5644039"/>
            <a:ext cx="3877032" cy="73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900"/>
              </a:lnSpc>
              <a:buSzPct val="100000"/>
              <a:buChar char="•"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Instant Acknowledgement</a:t>
            </a:r>
            <a:endParaRPr lang="en-US" sz="1350" dirty="0"/>
          </a:p>
          <a:p>
            <a:pPr marL="342900" indent="-342900" algn="l">
              <a:lnSpc>
                <a:spcPts val="1900"/>
              </a:lnSpc>
              <a:buSzPct val="100000"/>
              <a:buChar char="•"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Real-Time Tracking</a:t>
            </a:r>
            <a:endParaRPr lang="en-US" sz="1350" dirty="0"/>
          </a:p>
          <a:p>
            <a:pPr marL="342900" indent="-342900" algn="l">
              <a:lnSpc>
                <a:spcPts val="1900"/>
              </a:lnSpc>
              <a:buSzPct val="100000"/>
              <a:buChar char="•"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Zero Follow-Ups</a:t>
            </a:r>
            <a:endParaRPr lang="en-US" sz="13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6505" y="1767245"/>
            <a:ext cx="2248733" cy="224873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376505" y="4181594"/>
            <a:ext cx="3688794" cy="325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Employer: Centralized Control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5376505" y="4586049"/>
            <a:ext cx="3877151" cy="734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 Employer Dashboard provides comprehensive oversight without manual effort, enabling: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5376505" y="5399484"/>
            <a:ext cx="3877151" cy="73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900"/>
              </a:lnSpc>
              <a:buSzPct val="100000"/>
              <a:buChar char="•"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Configurable Workflows &amp; Eligibility</a:t>
            </a:r>
            <a:endParaRPr lang="en-US" sz="1350" dirty="0"/>
          </a:p>
          <a:p>
            <a:pPr marL="342900" indent="-342900" algn="l">
              <a:lnSpc>
                <a:spcPts val="1900"/>
              </a:lnSpc>
              <a:buSzPct val="100000"/>
              <a:buChar char="•"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Budget Monitoring &amp; Management</a:t>
            </a:r>
            <a:endParaRPr lang="en-US" sz="1350" dirty="0"/>
          </a:p>
          <a:p>
            <a:pPr marL="342900" indent="-342900" algn="l">
              <a:lnSpc>
                <a:spcPts val="1900"/>
              </a:lnSpc>
              <a:buSzPct val="100000"/>
              <a:buChar char="•"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Branch-Wide Visibility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5376505" y="6120496"/>
            <a:ext cx="3877151" cy="48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Eliminates inter-departmental coordination and chasing approvals.</a:t>
            </a:r>
            <a:endParaRPr lang="en-US" sz="13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9273" y="1767245"/>
            <a:ext cx="2248733" cy="224873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419273" y="4181594"/>
            <a:ext cx="3877151" cy="650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Vendor: Streamlined Fulfillment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9419273" y="4911090"/>
            <a:ext cx="3877151" cy="48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Vendors benefit from an organized system that transforms order management: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9419273" y="5479852"/>
            <a:ext cx="3877151" cy="73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900"/>
              </a:lnSpc>
              <a:buSzPct val="100000"/>
              <a:buChar char="•"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Consolidated Demand</a:t>
            </a:r>
            <a:endParaRPr lang="en-US" sz="1350" dirty="0"/>
          </a:p>
          <a:p>
            <a:pPr marL="342900" indent="-342900" algn="l">
              <a:lnSpc>
                <a:spcPts val="1900"/>
              </a:lnSpc>
              <a:buSzPct val="100000"/>
              <a:buChar char="•"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Clear SKU Details &amp; Quantities</a:t>
            </a:r>
            <a:endParaRPr lang="en-US" sz="1350" dirty="0"/>
          </a:p>
          <a:p>
            <a:pPr marL="342900" indent="-342900" algn="l">
              <a:lnSpc>
                <a:spcPts val="1900"/>
              </a:lnSpc>
              <a:buSzPct val="100000"/>
              <a:buChar char="•"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Company Segregation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9419273" y="6108336"/>
            <a:ext cx="3877151" cy="48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Automated logistics ensure timely, accurate fulfillment, reducing errors and complexity.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1333857" y="6746749"/>
            <a:ext cx="11962567" cy="244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This unified platform seamlessly connects all stakeholders, turning individual needs into a synchronized, efficient ecosystem where everyone wins.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21888" y="1005840"/>
            <a:ext cx="3328392" cy="416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Core Features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2721888" y="1578173"/>
            <a:ext cx="9186505" cy="168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UDS delivers comprehensive capabilities tailored to each stakeholder.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26043" y="1834991"/>
            <a:ext cx="3005614" cy="5388650"/>
          </a:xfrm>
          <a:prstGeom prst="roundRect">
            <a:avLst>
              <a:gd name="adj" fmla="val 6379"/>
            </a:avLst>
          </a:prstGeom>
          <a:solidFill>
            <a:srgbClr val="D4E8F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9154" y="1922859"/>
            <a:ext cx="2739390" cy="27393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59154" y="4750117"/>
            <a:ext cx="1664137" cy="208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Employee Features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759154" y="5045988"/>
            <a:ext cx="299442" cy="299442"/>
          </a:xfrm>
          <a:prstGeom prst="roundRect">
            <a:avLst>
              <a:gd name="adj" fmla="val 40016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08982" y="5095756"/>
            <a:ext cx="199668" cy="19966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136702" y="5110520"/>
            <a:ext cx="2361843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Multi-Channel Requests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3136702" y="5316022"/>
            <a:ext cx="2361843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Order via WhatsApp or web portal.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2759154" y="5607487"/>
            <a:ext cx="299442" cy="299442"/>
          </a:xfrm>
          <a:prstGeom prst="roundRect">
            <a:avLst>
              <a:gd name="adj" fmla="val 40016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08982" y="5657255"/>
            <a:ext cx="199668" cy="1996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136702" y="5672018"/>
            <a:ext cx="2361843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Real-Time Tracking</a:t>
            </a:r>
            <a:endParaRPr lang="en-US" sz="800" dirty="0"/>
          </a:p>
        </p:txBody>
      </p:sp>
      <p:sp>
        <p:nvSpPr>
          <p:cNvPr id="14" name="Text 9"/>
          <p:cNvSpPr/>
          <p:nvPr/>
        </p:nvSpPr>
        <p:spPr>
          <a:xfrm>
            <a:off x="3136702" y="5877520"/>
            <a:ext cx="2361843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Track orders from dispatch to delivery.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2759154" y="6168985"/>
            <a:ext cx="299442" cy="299442"/>
          </a:xfrm>
          <a:prstGeom prst="roundRect">
            <a:avLst>
              <a:gd name="adj" fmla="val 40016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808982" y="6218753"/>
            <a:ext cx="199668" cy="1996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36702" y="6233517"/>
            <a:ext cx="2361843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Transparent Status</a:t>
            </a:r>
            <a:endParaRPr lang="en-US" sz="800" dirty="0"/>
          </a:p>
        </p:txBody>
      </p:sp>
      <p:sp>
        <p:nvSpPr>
          <p:cNvPr id="18" name="Text 12"/>
          <p:cNvSpPr/>
          <p:nvPr/>
        </p:nvSpPr>
        <p:spPr>
          <a:xfrm>
            <a:off x="3136702" y="6439019"/>
            <a:ext cx="2361843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Full visibility on approval &amp; fulfillment.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2759154" y="6730484"/>
            <a:ext cx="299442" cy="299442"/>
          </a:xfrm>
          <a:prstGeom prst="roundRect">
            <a:avLst>
              <a:gd name="adj" fmla="val 40016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808982" y="6780252"/>
            <a:ext cx="199668" cy="19966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136702" y="6795016"/>
            <a:ext cx="2361843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Secure Access</a:t>
            </a:r>
            <a:endParaRPr lang="en-US" sz="800" dirty="0"/>
          </a:p>
        </p:txBody>
      </p:sp>
      <p:sp>
        <p:nvSpPr>
          <p:cNvPr id="22" name="Text 15"/>
          <p:cNvSpPr/>
          <p:nvPr/>
        </p:nvSpPr>
        <p:spPr>
          <a:xfrm>
            <a:off x="3136702" y="7000518"/>
            <a:ext cx="2361843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Guaranteed role-based secure access.</a:t>
            </a:r>
            <a:endParaRPr lang="en-US" sz="800" dirty="0"/>
          </a:p>
        </p:txBody>
      </p:sp>
      <p:sp>
        <p:nvSpPr>
          <p:cNvPr id="23" name="Shape 16"/>
          <p:cNvSpPr/>
          <p:nvPr/>
        </p:nvSpPr>
        <p:spPr>
          <a:xfrm>
            <a:off x="5772388" y="1834991"/>
            <a:ext cx="3005614" cy="5388650"/>
          </a:xfrm>
          <a:prstGeom prst="roundRect">
            <a:avLst>
              <a:gd name="adj" fmla="val 6379"/>
            </a:avLst>
          </a:prstGeom>
          <a:solidFill>
            <a:srgbClr val="D4E8F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05500" y="1922859"/>
            <a:ext cx="2739390" cy="273939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5905500" y="4750117"/>
            <a:ext cx="1664137" cy="208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Employer Features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5905500" y="5045988"/>
            <a:ext cx="299442" cy="299442"/>
          </a:xfrm>
          <a:prstGeom prst="roundRect">
            <a:avLst>
              <a:gd name="adj" fmla="val 40016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955328" y="5095756"/>
            <a:ext cx="199668" cy="199668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283047" y="5110520"/>
            <a:ext cx="2361843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Centralized Dashboard</a:t>
            </a:r>
            <a:endParaRPr lang="en-US" sz="800" dirty="0"/>
          </a:p>
        </p:txBody>
      </p:sp>
      <p:sp>
        <p:nvSpPr>
          <p:cNvPr id="29" name="Text 20"/>
          <p:cNvSpPr/>
          <p:nvPr/>
        </p:nvSpPr>
        <p:spPr>
          <a:xfrm>
            <a:off x="6283047" y="5316022"/>
            <a:ext cx="2361843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Company-wide operational visibility.</a:t>
            </a:r>
            <a:endParaRPr lang="en-US" sz="800" dirty="0"/>
          </a:p>
        </p:txBody>
      </p:sp>
      <p:sp>
        <p:nvSpPr>
          <p:cNvPr id="30" name="Shape 21"/>
          <p:cNvSpPr/>
          <p:nvPr/>
        </p:nvSpPr>
        <p:spPr>
          <a:xfrm>
            <a:off x="5905500" y="5607487"/>
            <a:ext cx="299442" cy="299442"/>
          </a:xfrm>
          <a:prstGeom prst="roundRect">
            <a:avLst>
              <a:gd name="adj" fmla="val 40016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955328" y="5657255"/>
            <a:ext cx="199668" cy="199668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6283047" y="5672018"/>
            <a:ext cx="2361843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Workflow Automation</a:t>
            </a:r>
            <a:endParaRPr lang="en-US" sz="800" dirty="0"/>
          </a:p>
        </p:txBody>
      </p:sp>
      <p:sp>
        <p:nvSpPr>
          <p:cNvPr id="33" name="Text 23"/>
          <p:cNvSpPr/>
          <p:nvPr/>
        </p:nvSpPr>
        <p:spPr>
          <a:xfrm>
            <a:off x="6283047" y="5877520"/>
            <a:ext cx="2361843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Faster approvals, enforced policies.</a:t>
            </a:r>
            <a:endParaRPr lang="en-US" sz="800" dirty="0"/>
          </a:p>
        </p:txBody>
      </p:sp>
      <p:sp>
        <p:nvSpPr>
          <p:cNvPr id="34" name="Shape 24"/>
          <p:cNvSpPr/>
          <p:nvPr/>
        </p:nvSpPr>
        <p:spPr>
          <a:xfrm>
            <a:off x="5905500" y="6168985"/>
            <a:ext cx="299442" cy="299442"/>
          </a:xfrm>
          <a:prstGeom prst="roundRect">
            <a:avLst>
              <a:gd name="adj" fmla="val 40016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5" name="Image 8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55328" y="6218753"/>
            <a:ext cx="199668" cy="199668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6283047" y="6233517"/>
            <a:ext cx="2361843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Budget Control</a:t>
            </a:r>
            <a:endParaRPr lang="en-US" sz="800" dirty="0"/>
          </a:p>
        </p:txBody>
      </p:sp>
      <p:sp>
        <p:nvSpPr>
          <p:cNvPr id="37" name="Text 26"/>
          <p:cNvSpPr/>
          <p:nvPr/>
        </p:nvSpPr>
        <p:spPr>
          <a:xfrm>
            <a:off x="6283047" y="6439019"/>
            <a:ext cx="2361843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Monitor and control budgets &amp; spending.</a:t>
            </a:r>
            <a:endParaRPr lang="en-US" sz="800" dirty="0"/>
          </a:p>
        </p:txBody>
      </p:sp>
      <p:sp>
        <p:nvSpPr>
          <p:cNvPr id="38" name="Shape 27"/>
          <p:cNvSpPr/>
          <p:nvPr/>
        </p:nvSpPr>
        <p:spPr>
          <a:xfrm>
            <a:off x="5905500" y="6730484"/>
            <a:ext cx="299442" cy="299442"/>
          </a:xfrm>
          <a:prstGeom prst="roundRect">
            <a:avLst>
              <a:gd name="adj" fmla="val 40016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9" name="Image 9" descr="preencoded.png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955328" y="6780252"/>
            <a:ext cx="199668" cy="199668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6283047" y="6795016"/>
            <a:ext cx="2361843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Reporting &amp; Analytics</a:t>
            </a:r>
            <a:endParaRPr lang="en-US" sz="800" dirty="0"/>
          </a:p>
        </p:txBody>
      </p:sp>
      <p:sp>
        <p:nvSpPr>
          <p:cNvPr id="41" name="Text 29"/>
          <p:cNvSpPr/>
          <p:nvPr/>
        </p:nvSpPr>
        <p:spPr>
          <a:xfrm>
            <a:off x="6283047" y="7000518"/>
            <a:ext cx="2361843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Key metrics on requests &amp; spend.</a:t>
            </a:r>
            <a:endParaRPr lang="en-US" sz="800" dirty="0"/>
          </a:p>
        </p:txBody>
      </p:sp>
      <p:sp>
        <p:nvSpPr>
          <p:cNvPr id="42" name="Shape 30"/>
          <p:cNvSpPr/>
          <p:nvPr/>
        </p:nvSpPr>
        <p:spPr>
          <a:xfrm>
            <a:off x="8918734" y="1834991"/>
            <a:ext cx="3100626" cy="5388650"/>
          </a:xfrm>
          <a:prstGeom prst="roundRect">
            <a:avLst>
              <a:gd name="adj" fmla="val 6183"/>
            </a:avLst>
          </a:prstGeom>
          <a:solidFill>
            <a:srgbClr val="D4E8F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051846" y="1970461"/>
            <a:ext cx="2689050" cy="268905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9051846" y="4747379"/>
            <a:ext cx="1664137" cy="208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Vendor Features</a:t>
            </a:r>
            <a:endParaRPr lang="en-US" sz="1300" dirty="0"/>
          </a:p>
        </p:txBody>
      </p:sp>
      <p:sp>
        <p:nvSpPr>
          <p:cNvPr id="45" name="Shape 32"/>
          <p:cNvSpPr/>
          <p:nvPr/>
        </p:nvSpPr>
        <p:spPr>
          <a:xfrm>
            <a:off x="9051846" y="5043249"/>
            <a:ext cx="299442" cy="299442"/>
          </a:xfrm>
          <a:prstGeom prst="roundRect">
            <a:avLst>
              <a:gd name="adj" fmla="val 40016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6" name="Image 11" descr="preencoded.png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118342" y="5653325"/>
            <a:ext cx="199668" cy="199668"/>
          </a:xfrm>
          <a:prstGeom prst="rect">
            <a:avLst/>
          </a:prstGeom>
        </p:spPr>
      </p:pic>
      <p:sp>
        <p:nvSpPr>
          <p:cNvPr id="47" name="Text 33"/>
          <p:cNvSpPr/>
          <p:nvPr/>
        </p:nvSpPr>
        <p:spPr>
          <a:xfrm>
            <a:off x="9429393" y="5107781"/>
            <a:ext cx="2456855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Order Consolidation</a:t>
            </a:r>
            <a:endParaRPr lang="en-US" sz="800" dirty="0"/>
          </a:p>
        </p:txBody>
      </p:sp>
      <p:sp>
        <p:nvSpPr>
          <p:cNvPr id="48" name="Text 34"/>
          <p:cNvSpPr/>
          <p:nvPr/>
        </p:nvSpPr>
        <p:spPr>
          <a:xfrm>
            <a:off x="9429393" y="5313283"/>
            <a:ext cx="2456855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Streamlined procurement demand.</a:t>
            </a:r>
            <a:endParaRPr lang="en-US" sz="800" dirty="0"/>
          </a:p>
        </p:txBody>
      </p:sp>
      <p:sp>
        <p:nvSpPr>
          <p:cNvPr id="49" name="Shape 35"/>
          <p:cNvSpPr/>
          <p:nvPr/>
        </p:nvSpPr>
        <p:spPr>
          <a:xfrm>
            <a:off x="9051846" y="5101828"/>
            <a:ext cx="299442" cy="299442"/>
          </a:xfrm>
          <a:prstGeom prst="roundRect">
            <a:avLst>
              <a:gd name="adj" fmla="val 40016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0" name="Image 12" descr="preencoded.png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101673" y="5151596"/>
            <a:ext cx="199668" cy="199668"/>
          </a:xfrm>
          <a:prstGeom prst="rect">
            <a:avLst/>
          </a:prstGeom>
        </p:spPr>
      </p:pic>
      <p:sp>
        <p:nvSpPr>
          <p:cNvPr id="51" name="Text 36"/>
          <p:cNvSpPr/>
          <p:nvPr/>
        </p:nvSpPr>
        <p:spPr>
          <a:xfrm>
            <a:off x="9429393" y="5669280"/>
            <a:ext cx="2456855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Inventory Management</a:t>
            </a:r>
            <a:endParaRPr lang="en-US" sz="800" dirty="0"/>
          </a:p>
        </p:txBody>
      </p:sp>
      <p:sp>
        <p:nvSpPr>
          <p:cNvPr id="52" name="Text 37"/>
          <p:cNvSpPr/>
          <p:nvPr/>
        </p:nvSpPr>
        <p:spPr>
          <a:xfrm>
            <a:off x="9429393" y="5874782"/>
            <a:ext cx="2456855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Real-time stock for better planning.</a:t>
            </a:r>
            <a:endParaRPr lang="en-US" sz="800" dirty="0"/>
          </a:p>
        </p:txBody>
      </p:sp>
      <p:pic>
        <p:nvPicPr>
          <p:cNvPr id="54" name="Image 13" descr="preencoded.png"/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9101673" y="6216015"/>
            <a:ext cx="199668" cy="199668"/>
          </a:xfrm>
          <a:prstGeom prst="rect">
            <a:avLst/>
          </a:prstGeom>
        </p:spPr>
      </p:pic>
      <p:sp>
        <p:nvSpPr>
          <p:cNvPr id="55" name="Text 39"/>
          <p:cNvSpPr/>
          <p:nvPr/>
        </p:nvSpPr>
        <p:spPr>
          <a:xfrm>
            <a:off x="9429393" y="6230779"/>
            <a:ext cx="2456855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Logistics Automation</a:t>
            </a:r>
            <a:endParaRPr lang="en-US" sz="800" dirty="0"/>
          </a:p>
        </p:txBody>
      </p:sp>
      <p:sp>
        <p:nvSpPr>
          <p:cNvPr id="56" name="Text 40"/>
          <p:cNvSpPr/>
          <p:nvPr/>
        </p:nvSpPr>
        <p:spPr>
          <a:xfrm>
            <a:off x="9429393" y="6436281"/>
            <a:ext cx="2456855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Automated shipments.</a:t>
            </a:r>
            <a:endParaRPr lang="en-US" sz="800" dirty="0"/>
          </a:p>
        </p:txBody>
      </p:sp>
      <p:sp>
        <p:nvSpPr>
          <p:cNvPr id="57" name="Shape 41"/>
          <p:cNvSpPr/>
          <p:nvPr/>
        </p:nvSpPr>
        <p:spPr>
          <a:xfrm>
            <a:off x="9051846" y="6727746"/>
            <a:ext cx="299442" cy="299442"/>
          </a:xfrm>
          <a:prstGeom prst="roundRect">
            <a:avLst>
              <a:gd name="adj" fmla="val 40016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8" name="Image 14" descr="preencoded.png"/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9101673" y="6759226"/>
            <a:ext cx="199668" cy="199668"/>
          </a:xfrm>
          <a:prstGeom prst="rect">
            <a:avLst/>
          </a:prstGeom>
        </p:spPr>
      </p:pic>
      <p:sp>
        <p:nvSpPr>
          <p:cNvPr id="59" name="Text 42"/>
          <p:cNvSpPr/>
          <p:nvPr/>
        </p:nvSpPr>
        <p:spPr>
          <a:xfrm>
            <a:off x="9429393" y="6792278"/>
            <a:ext cx="2456855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Financial Workflow</a:t>
            </a:r>
            <a:endParaRPr lang="en-US" sz="800" dirty="0"/>
          </a:p>
        </p:txBody>
      </p:sp>
      <p:sp>
        <p:nvSpPr>
          <p:cNvPr id="60" name="Text 43"/>
          <p:cNvSpPr/>
          <p:nvPr/>
        </p:nvSpPr>
        <p:spPr>
          <a:xfrm>
            <a:off x="9429393" y="6997779"/>
            <a:ext cx="2456855" cy="135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Clean reconciliation &amp; faster processing.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1526" y="818674"/>
            <a:ext cx="7344966" cy="697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50"/>
              </a:lnSpc>
              <a:buNone/>
            </a:pPr>
            <a:r>
              <a:rPr lang="en-US" sz="435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The Technology Foundation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781526" y="1956197"/>
            <a:ext cx="13067348" cy="709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UDS integrates seamlessly with enterprise systems and external platforms, creating a robust technology backbone that operates reliably at scale.</a:t>
            </a:r>
            <a:endParaRPr lang="en-US" sz="17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526" y="2912626"/>
            <a:ext cx="1488877" cy="148887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545199" y="2912626"/>
            <a:ext cx="2408873" cy="697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WhatsApp Business APIs</a:t>
            </a:r>
            <a:endParaRPr lang="en-US" sz="2150" dirty="0"/>
          </a:p>
        </p:txBody>
      </p:sp>
      <p:sp>
        <p:nvSpPr>
          <p:cNvPr id="6" name="Text 3"/>
          <p:cNvSpPr/>
          <p:nvPr/>
        </p:nvSpPr>
        <p:spPr>
          <a:xfrm>
            <a:off x="2545199" y="3742134"/>
            <a:ext cx="2408873" cy="141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Direct integration for mobile-first employee order with instant messaging capabilities</a:t>
            </a:r>
            <a:endParaRPr lang="en-US" sz="17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8868" y="2912626"/>
            <a:ext cx="1488877" cy="148887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992541" y="2912626"/>
            <a:ext cx="2408873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Logistics Partners</a:t>
            </a:r>
            <a:endParaRPr lang="en-US" sz="2150" dirty="0"/>
          </a:p>
        </p:txBody>
      </p:sp>
      <p:sp>
        <p:nvSpPr>
          <p:cNvPr id="9" name="Text 5"/>
          <p:cNvSpPr/>
          <p:nvPr/>
        </p:nvSpPr>
        <p:spPr>
          <a:xfrm>
            <a:off x="6992541" y="3393281"/>
            <a:ext cx="2408873" cy="1772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Connected with Shiprocket, Eshipz, ClickPost for nationwide delivery coverage</a:t>
            </a:r>
            <a:endParaRPr lang="en-US" sz="17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6209" y="2912626"/>
            <a:ext cx="1488877" cy="148887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439882" y="2912626"/>
            <a:ext cx="2408992" cy="697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Finance Workflows</a:t>
            </a:r>
            <a:endParaRPr lang="en-US" sz="2150" dirty="0"/>
          </a:p>
        </p:txBody>
      </p:sp>
      <p:sp>
        <p:nvSpPr>
          <p:cNvPr id="12" name="Text 7"/>
          <p:cNvSpPr/>
          <p:nvPr/>
        </p:nvSpPr>
        <p:spPr>
          <a:xfrm>
            <a:off x="11439882" y="3742134"/>
            <a:ext cx="2408992" cy="2127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Bridges operations and finance by embedding PR-PO compliance.</a:t>
            </a:r>
            <a:endParaRPr lang="en-US" sz="175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This ensures clean invoicing, accurate GRNs</a:t>
            </a:r>
            <a:endParaRPr lang="en-US" sz="1750" dirty="0"/>
          </a:p>
        </p:txBody>
      </p:sp>
      <p:sp>
        <p:nvSpPr>
          <p:cNvPr id="13" name="Shape 8"/>
          <p:cNvSpPr/>
          <p:nvPr/>
        </p:nvSpPr>
        <p:spPr>
          <a:xfrm>
            <a:off x="781526" y="6116836"/>
            <a:ext cx="13067348" cy="1293971"/>
          </a:xfrm>
          <a:prstGeom prst="roundRect">
            <a:avLst>
              <a:gd name="adj" fmla="val 15532"/>
            </a:avLst>
          </a:prstGeom>
          <a:solidFill>
            <a:srgbClr val="B5DAFC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4768" y="6451878"/>
            <a:ext cx="279083" cy="22324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507093" y="6392347"/>
            <a:ext cx="12118538" cy="709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All data flows in real time across integrated systems—</a:t>
            </a:r>
            <a:r>
              <a:rPr lang="en-US" sz="1750" b="1" dirty="0">
                <a:solidFill>
                  <a:srgbClr val="3371A5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eliminating manual reconciliation entirely</a:t>
            </a:r>
            <a:r>
              <a:rPr lang="en-US" sz="175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and ensuring accuracy at every touchpoint.</a:t>
            </a:r>
            <a:endParaRPr lang="en-US" sz="1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08ECB4-41CC-3067-8580-31F867018B23}"/>
              </a:ext>
            </a:extLst>
          </p:cNvPr>
          <p:cNvSpPr txBox="1"/>
          <p:nvPr/>
        </p:nvSpPr>
        <p:spPr>
          <a:xfrm>
            <a:off x="4525701" y="3611301"/>
            <a:ext cx="51044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/>
              <a:t>DEMO</a:t>
            </a:r>
            <a:endParaRPr lang="en-IN" sz="5400" dirty="0"/>
          </a:p>
        </p:txBody>
      </p:sp>
    </p:spTree>
    <p:extLst>
      <p:ext uri="{BB962C8B-B14F-4D97-AF65-F5344CB8AC3E}">
        <p14:creationId xmlns:p14="http://schemas.microsoft.com/office/powerpoint/2010/main" val="1436074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3D8D-CE06-DD08-EEE1-8CD6FF624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33E8FD-D815-ABD4-8DF7-F8A73A54AE8E}"/>
              </a:ext>
            </a:extLst>
          </p:cNvPr>
          <p:cNvSpPr txBox="1"/>
          <p:nvPr/>
        </p:nvSpPr>
        <p:spPr>
          <a:xfrm>
            <a:off x="567158" y="428262"/>
            <a:ext cx="12859475" cy="77251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Tech Stack</a:t>
            </a:r>
          </a:p>
          <a:p>
            <a:endParaRPr lang="en-US" sz="4000" dirty="0"/>
          </a:p>
          <a:p>
            <a:pPr marL="685800" indent="-685800">
              <a:buFont typeface="Wingdings" panose="05000000000000000000" pitchFamily="2" charset="2"/>
              <a:buChar char="§"/>
            </a:pPr>
            <a:r>
              <a:rPr lang="en-US" sz="3200" dirty="0"/>
              <a:t>Front end</a:t>
            </a:r>
          </a:p>
          <a:p>
            <a:pPr marL="1143000" lvl="1" indent="-685800">
              <a:buFont typeface="Wingdings" panose="05000000000000000000" pitchFamily="2" charset="2"/>
              <a:buChar char="§"/>
            </a:pPr>
            <a:r>
              <a:rPr lang="en-US" sz="2400" dirty="0"/>
              <a:t>React Framework</a:t>
            </a:r>
          </a:p>
          <a:p>
            <a:pPr marL="1143000" lvl="1" indent="-685800">
              <a:buFont typeface="Wingdings" panose="05000000000000000000" pitchFamily="2" charset="2"/>
              <a:buChar char="§"/>
            </a:pPr>
            <a:r>
              <a:rPr lang="en-US" sz="2400" dirty="0"/>
              <a:t>Typescript</a:t>
            </a:r>
          </a:p>
          <a:p>
            <a:pPr marL="1143000" lvl="1" indent="-685800">
              <a:buFont typeface="Wingdings" panose="05000000000000000000" pitchFamily="2" charset="2"/>
              <a:buChar char="§"/>
            </a:pPr>
            <a:r>
              <a:rPr lang="en-US" sz="2400" dirty="0"/>
              <a:t>CSS</a:t>
            </a:r>
          </a:p>
          <a:p>
            <a:pPr marL="685800" indent="-685800">
              <a:buFont typeface="Wingdings" panose="05000000000000000000" pitchFamily="2" charset="2"/>
              <a:buChar char="§"/>
            </a:pPr>
            <a:r>
              <a:rPr lang="en-US" sz="3200" dirty="0"/>
              <a:t>Back end</a:t>
            </a:r>
          </a:p>
          <a:p>
            <a:pPr marL="1143000" lvl="1" indent="-685800">
              <a:buFont typeface="Wingdings" panose="05000000000000000000" pitchFamily="2" charset="2"/>
              <a:buChar char="§"/>
            </a:pPr>
            <a:r>
              <a:rPr lang="en-US" sz="2400" dirty="0"/>
              <a:t>REST API ( 114 APIs)</a:t>
            </a:r>
          </a:p>
          <a:p>
            <a:pPr marL="1143000" lvl="1" indent="-685800">
              <a:buFont typeface="Wingdings" panose="05000000000000000000" pitchFamily="2" charset="2"/>
              <a:buChar char="§"/>
            </a:pPr>
            <a:r>
              <a:rPr lang="en-US" sz="2400" dirty="0"/>
              <a:t>Node.js</a:t>
            </a:r>
          </a:p>
          <a:p>
            <a:pPr marL="685800" indent="-685800">
              <a:buFont typeface="Wingdings" panose="05000000000000000000" pitchFamily="2" charset="2"/>
              <a:buChar char="§"/>
            </a:pPr>
            <a:r>
              <a:rPr lang="en-US" sz="3200" dirty="0"/>
              <a:t>Database</a:t>
            </a:r>
          </a:p>
          <a:p>
            <a:pPr marL="1143000" lvl="1" indent="-685800">
              <a:buFont typeface="Wingdings" panose="05000000000000000000" pitchFamily="2" charset="2"/>
              <a:buChar char="§"/>
            </a:pPr>
            <a:r>
              <a:rPr lang="en-US" sz="2400" dirty="0"/>
              <a:t>Mongo DB</a:t>
            </a:r>
          </a:p>
          <a:p>
            <a:pPr marL="685800" indent="-685800">
              <a:buFont typeface="Wingdings" panose="05000000000000000000" pitchFamily="2" charset="2"/>
              <a:buChar char="§"/>
            </a:pPr>
            <a:r>
              <a:rPr lang="en-US" sz="3200" dirty="0"/>
              <a:t>Integration Email</a:t>
            </a:r>
          </a:p>
          <a:p>
            <a:pPr marL="1143000" lvl="1" indent="-685800">
              <a:buFont typeface="Wingdings" panose="05000000000000000000" pitchFamily="2" charset="2"/>
              <a:buChar char="§"/>
            </a:pPr>
            <a:r>
              <a:rPr lang="en-US" sz="2400" dirty="0"/>
              <a:t>SMTP, </a:t>
            </a:r>
            <a:r>
              <a:rPr lang="en-US" sz="2400" dirty="0" err="1"/>
              <a:t>Nodemailer</a:t>
            </a:r>
            <a:endParaRPr lang="en-US" sz="2400" dirty="0"/>
          </a:p>
          <a:p>
            <a:pPr marL="685800" indent="-685800">
              <a:buFont typeface="Wingdings" panose="05000000000000000000" pitchFamily="2" charset="2"/>
              <a:buChar char="§"/>
            </a:pPr>
            <a:r>
              <a:rPr lang="en-US" sz="3200" dirty="0"/>
              <a:t>Security</a:t>
            </a:r>
          </a:p>
          <a:p>
            <a:pPr marL="1143000" lvl="1" indent="-685800">
              <a:buFont typeface="Wingdings" panose="05000000000000000000" pitchFamily="2" charset="2"/>
              <a:buChar char="§"/>
            </a:pPr>
            <a:r>
              <a:rPr lang="en-US" sz="2400" dirty="0"/>
              <a:t>Custom auth ( Role-based access (Super Admin, Company, Vendor, Consumer), API auth helpers)</a:t>
            </a:r>
          </a:p>
          <a:p>
            <a:endParaRPr lang="en-IN" sz="4000" dirty="0"/>
          </a:p>
        </p:txBody>
      </p:sp>
    </p:spTree>
    <p:extLst>
      <p:ext uri="{BB962C8B-B14F-4D97-AF65-F5344CB8AC3E}">
        <p14:creationId xmlns:p14="http://schemas.microsoft.com/office/powerpoint/2010/main" val="4050934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B4838-D4B4-EB58-8DC4-13B4AF7A2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92A63A-B3A5-3369-3B1F-55B5B00D0ED0}"/>
              </a:ext>
            </a:extLst>
          </p:cNvPr>
          <p:cNvSpPr txBox="1"/>
          <p:nvPr/>
        </p:nvSpPr>
        <p:spPr>
          <a:xfrm>
            <a:off x="4525701" y="3611301"/>
            <a:ext cx="51044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/>
              <a:t>BACKUP</a:t>
            </a:r>
            <a:endParaRPr lang="en-IN" sz="5400" dirty="0"/>
          </a:p>
        </p:txBody>
      </p:sp>
    </p:spTree>
    <p:extLst>
      <p:ext uri="{BB962C8B-B14F-4D97-AF65-F5344CB8AC3E}">
        <p14:creationId xmlns:p14="http://schemas.microsoft.com/office/powerpoint/2010/main" val="16951835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48414" y="400764"/>
            <a:ext cx="3454122" cy="4317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70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The UDS Philosophy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2448997" y="958691"/>
            <a:ext cx="3810000" cy="1424226"/>
          </a:xfrm>
          <a:prstGeom prst="roundRect">
            <a:avLst>
              <a:gd name="adj" fmla="val 13970"/>
            </a:avLst>
          </a:prstGeom>
          <a:solidFill>
            <a:srgbClr val="3371A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587109" y="1042749"/>
            <a:ext cx="2072521" cy="259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Our Core Belief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587109" y="1385888"/>
            <a:ext cx="3533775" cy="355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"Every stakeholder should win—without creating extra work for anyone else."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04146" y="1042749"/>
            <a:ext cx="2290167" cy="215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5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Designing for Triple Success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504146" y="1342668"/>
            <a:ext cx="5585341" cy="53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Rather than optimising for just one party at the expense of others, UDS orchestrates a single, automated workflow that benefits employees, employers, and vendors simultaneously.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04146" y="1951673"/>
            <a:ext cx="5585341" cy="355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 result? A system where efficiency gains are shared, frustrations disappear, and everyone experiences genuine improvement in their daily operations.</a:t>
            </a:r>
            <a:endParaRPr lang="en-US" sz="105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197" y="2477572"/>
            <a:ext cx="5383887" cy="507873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140102" y="5629190"/>
            <a:ext cx="1709161" cy="536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Employee Experience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140102" y="6241712"/>
            <a:ext cx="1709161" cy="5174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Delight staff with seamless, low-effort workflows.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27112" y="3197724"/>
            <a:ext cx="1709162" cy="536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Employer Control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427112" y="3810246"/>
            <a:ext cx="1709162" cy="68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Maintain oversight without extra administrative burden.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790240" y="5629190"/>
            <a:ext cx="1709161" cy="536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Vendor Efficiency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7790240" y="6241712"/>
            <a:ext cx="1709161" cy="5174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Streamline partners to reduce friction and cost.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548414" y="7650956"/>
            <a:ext cx="9533573" cy="177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This unified approach eliminates trade-offs and creates a genuinely collaborative ecosystem.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5985</TotalTime>
  <Words>751</Words>
  <Application>Microsoft Office PowerPoint</Application>
  <PresentationFormat>Custom</PresentationFormat>
  <Paragraphs>134</Paragraphs>
  <Slides>11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Instrument Sans Semi Bold</vt:lpstr>
      <vt:lpstr>Instrument Sans Medium</vt:lpstr>
      <vt:lpstr>Wingdings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Puranmal Agrawal</cp:lastModifiedBy>
  <cp:revision>1</cp:revision>
  <dcterms:created xsi:type="dcterms:W3CDTF">2026-01-29T05:00:34Z</dcterms:created>
  <dcterms:modified xsi:type="dcterms:W3CDTF">2026-02-13T06:52:25Z</dcterms:modified>
</cp:coreProperties>
</file>